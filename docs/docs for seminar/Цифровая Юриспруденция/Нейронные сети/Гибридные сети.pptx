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77" r:id="rId3"/>
    <p:sldId id="290" r:id="rId4"/>
    <p:sldId id="272" r:id="rId5"/>
    <p:sldId id="273" r:id="rId6"/>
    <p:sldId id="262" r:id="rId7"/>
    <p:sldId id="278" r:id="rId8"/>
    <p:sldId id="279" r:id="rId9"/>
    <p:sldId id="275" r:id="rId10"/>
    <p:sldId id="276" r:id="rId11"/>
    <p:sldId id="285" r:id="rId12"/>
    <p:sldId id="261" r:id="rId13"/>
    <p:sldId id="256" r:id="rId14"/>
    <p:sldId id="263" r:id="rId15"/>
    <p:sldId id="281" r:id="rId16"/>
    <p:sldId id="271" r:id="rId17"/>
    <p:sldId id="258" r:id="rId18"/>
    <p:sldId id="269" r:id="rId19"/>
    <p:sldId id="260" r:id="rId20"/>
    <p:sldId id="259" r:id="rId21"/>
    <p:sldId id="292" r:id="rId22"/>
    <p:sldId id="282" r:id="rId23"/>
    <p:sldId id="283" r:id="rId24"/>
    <p:sldId id="284" r:id="rId25"/>
    <p:sldId id="286" r:id="rId26"/>
    <p:sldId id="287" r:id="rId27"/>
    <p:sldId id="288" r:id="rId28"/>
    <p:sldId id="289" r:id="rId29"/>
    <p:sldId id="291" r:id="rId30"/>
    <p:sldId id="268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87"/>
    <a:srgbClr val="0585BC"/>
    <a:srgbClr val="0C3144"/>
    <a:srgbClr val="25387A"/>
    <a:srgbClr val="251A1C"/>
    <a:srgbClr val="1F356D"/>
    <a:srgbClr val="123752"/>
    <a:srgbClr val="194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92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14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676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62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22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85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76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19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02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88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9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255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60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5F0BF-72B5-4E58-9BD9-CA8407A98F40}" type="datetimeFigureOut">
              <a:rPr lang="ru-RU" smtClean="0"/>
              <a:t>23.04.2024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4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90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127760" y="389607"/>
            <a:ext cx="9780872" cy="4498667"/>
          </a:xfrm>
          <a:prstGeom prst="rect">
            <a:avLst/>
          </a:prstGeom>
          <a:solidFill>
            <a:schemeClr val="bg1">
              <a:lumMod val="50000"/>
            </a:scheme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5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Техническая сторона искусственного интеллекта. Примеры реализации искусственного интеллекта на практике. </a:t>
            </a:r>
            <a:r>
              <a:rPr lang="en-US" sz="5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ChatGPT</a:t>
            </a:r>
            <a:r>
              <a:rPr lang="en-US" sz="5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673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4"/>
            <a:ext cx="12192000" cy="685409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47962" y="348276"/>
            <a:ext cx="10696074" cy="1015663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000" b="1" dirty="0"/>
              <a:t>Яндекс – интерес с 22г. </a:t>
            </a:r>
            <a:r>
              <a:rPr lang="en-US" sz="6000" b="1" dirty="0"/>
              <a:t>x15</a:t>
            </a:r>
            <a:endParaRPr lang="ru-RU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747962" y="1824561"/>
            <a:ext cx="10967627" cy="4221092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Сколько весит нейросеть, чем опасна нейросеть, как попасть в нейросеть, как сделать фотосессию с помощью нейросети, как нейросеть рисует картины, как обучаются нейросети, как правильно писать </a:t>
            </a:r>
            <a:r>
              <a:rPr lang="ru-RU" sz="2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промт</a:t>
            </a: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для нейросети, какая нейросеть делает презентации, как сделать песню своим голосом через нейросеть, зачем нужны нейросети, как пообщаться с нейросетью, кто придумал нейросети, где взять нейросеть, как писать посты с помощью нейросети, как обмануть нейросеть, какие бывают нейросети, как воспользоваться нейросетью, как изменить себя с помощью нейросети</a:t>
            </a:r>
          </a:p>
        </p:txBody>
      </p:sp>
    </p:spTree>
    <p:extLst>
      <p:ext uri="{BB962C8B-B14F-4D97-AF65-F5344CB8AC3E}">
        <p14:creationId xmlns:p14="http://schemas.microsoft.com/office/powerpoint/2010/main" val="151057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BA1574-7F9A-4A53-8DF9-333E436D4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47963" y="957876"/>
            <a:ext cx="10696074" cy="1015663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000" b="1" dirty="0"/>
              <a:t>Успехи нейронных сетей</a:t>
            </a:r>
            <a:endParaRPr lang="ru-RU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830673" y="2929461"/>
            <a:ext cx="10530654" cy="2123658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ru-RU" sz="4400" b="1" dirty="0" err="1"/>
              <a:t>Сверточные</a:t>
            </a:r>
            <a:r>
              <a:rPr lang="ru-RU" sz="4400" b="1" dirty="0"/>
              <a:t> сети и глубокое обучение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Сети «из коробки»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Генеративные модели</a:t>
            </a:r>
          </a:p>
        </p:txBody>
      </p:sp>
    </p:spTree>
    <p:extLst>
      <p:ext uri="{BB962C8B-B14F-4D97-AF65-F5344CB8AC3E}">
        <p14:creationId xmlns:p14="http://schemas.microsoft.com/office/powerpoint/2010/main" val="247788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59518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01579" y="419791"/>
            <a:ext cx="10696074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95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Технический анализ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01579" y="1887846"/>
            <a:ext cx="10696074" cy="707886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385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окончательный выбор модели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79" y="2863458"/>
            <a:ext cx="4525006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03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425" y="159026"/>
            <a:ext cx="6046525" cy="364579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44" y="2841039"/>
            <a:ext cx="753427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45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-635000" ty="-63500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24784" y="543527"/>
            <a:ext cx="9853863" cy="1200329"/>
          </a:xfrm>
          <a:prstGeom prst="rect">
            <a:avLst/>
          </a:prstGeom>
          <a:solidFill>
            <a:srgbClr val="251A1C">
              <a:alpha val="7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Что под капотом?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24784" y="2887584"/>
            <a:ext cx="9853863" cy="3170099"/>
          </a:xfrm>
          <a:prstGeom prst="rect">
            <a:avLst/>
          </a:prstGeom>
          <a:solidFill>
            <a:srgbClr val="251A1C">
              <a:alpha val="7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028700" lvl="1" indent="-571500">
              <a:buFontTx/>
              <a:buChar char="-"/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Multi-Layer Perceptron (MLP)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1958 г.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28700" lvl="1" indent="-571500">
              <a:buFontTx/>
              <a:buChar char="-"/>
            </a:pP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Теорема Цыбенко (1989 г.)</a:t>
            </a:r>
          </a:p>
          <a:p>
            <a:pPr marL="1028700" lvl="1" indent="-571500">
              <a:buFontTx/>
              <a:buChar char="-"/>
            </a:pP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Обратное распространение ошибки и градиентный спуск</a:t>
            </a:r>
          </a:p>
          <a:p>
            <a:pPr marL="1028700" lvl="1" indent="-571500">
              <a:buFontTx/>
              <a:buChar char="-"/>
            </a:pP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9870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6940"/>
            <a:ext cx="12245987" cy="687494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868733" y="241539"/>
            <a:ext cx="10983962" cy="1015663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000" b="1" dirty="0"/>
              <a:t>Что делать, если сеть не учится?</a:t>
            </a:r>
            <a:endParaRPr lang="ru-RU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D603780-9CB7-4909-BC45-637B9CEE49B9}"/>
              </a:ext>
            </a:extLst>
          </p:cNvPr>
          <p:cNvSpPr/>
          <p:nvPr/>
        </p:nvSpPr>
        <p:spPr>
          <a:xfrm>
            <a:off x="8204199" y="4978639"/>
            <a:ext cx="3648495" cy="646331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3600" b="1" dirty="0"/>
              <a:t>Манипулятор</a:t>
            </a:r>
            <a:endParaRPr lang="ru-RU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7085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6603"/>
            <a:ext cx="12192000" cy="791751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658264" y="2162659"/>
            <a:ext cx="7401464" cy="2554545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27000" endPos="385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571500" indent="-571500">
              <a:buFontTx/>
              <a:buChar char="-"/>
            </a:pP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Зависимости в данных нет</a:t>
            </a:r>
          </a:p>
          <a:p>
            <a:pPr marL="571500" indent="-571500">
              <a:buFontTx/>
              <a:buChar char="-"/>
            </a:pP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Зависимость есть, </a:t>
            </a:r>
            <a:b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 алгоритм не смог ее найти</a:t>
            </a:r>
          </a:p>
          <a:p>
            <a:pPr marL="571500" indent="-571500">
              <a:buFontTx/>
              <a:buChar char="-"/>
            </a:pP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Зависимость - не функция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106778-BC43-4135-87FF-DE29CFFF8428}"/>
              </a:ext>
            </a:extLst>
          </p:cNvPr>
          <p:cNvSpPr/>
          <p:nvPr/>
        </p:nvSpPr>
        <p:spPr>
          <a:xfrm>
            <a:off x="747963" y="-211050"/>
            <a:ext cx="10696074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14000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Теория и практика</a:t>
            </a:r>
          </a:p>
        </p:txBody>
      </p:sp>
    </p:spTree>
    <p:extLst>
      <p:ext uri="{BB962C8B-B14F-4D97-AF65-F5344CB8AC3E}">
        <p14:creationId xmlns:p14="http://schemas.microsoft.com/office/powerpoint/2010/main" val="1683700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01579" y="419791"/>
            <a:ext cx="10696074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14000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«Лунная поверхность»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79" y="1831389"/>
            <a:ext cx="6134100" cy="47053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878" y="2427736"/>
            <a:ext cx="4419775" cy="220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6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01579" y="419791"/>
            <a:ext cx="10696074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14000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Поверхность нейронов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79" y="1828799"/>
            <a:ext cx="4881694" cy="416278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616" y="1828799"/>
            <a:ext cx="4963549" cy="416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65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A9D240-49E4-47F1-9249-41A7D4941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111"/>
            <a:ext cx="12191999" cy="718231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48950" y="4556727"/>
            <a:ext cx="11094097" cy="1200329"/>
          </a:xfrm>
          <a:prstGeom prst="rect">
            <a:avLst/>
          </a:prstGeom>
          <a:solidFill>
            <a:srgbClr val="251A1C">
              <a:alpha val="70000"/>
            </a:srgbClr>
          </a:soli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Обучение с учителем и без</a:t>
            </a:r>
          </a:p>
        </p:txBody>
      </p:sp>
    </p:spTree>
    <p:extLst>
      <p:ext uri="{BB962C8B-B14F-4D97-AF65-F5344CB8AC3E}">
        <p14:creationId xmlns:p14="http://schemas.microsoft.com/office/powerpoint/2010/main" val="1301566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732548" y="327722"/>
            <a:ext cx="8807116" cy="1200329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70000"/>
                </a:srgbClr>
              </a:gs>
              <a:gs pos="50000">
                <a:srgbClr val="194C71">
                  <a:shade val="67500"/>
                  <a:satMod val="115000"/>
                  <a:alpha val="70000"/>
                </a:srgbClr>
              </a:gs>
              <a:gs pos="100000">
                <a:srgbClr val="194C71">
                  <a:shade val="100000"/>
                  <a:satMod val="115000"/>
                  <a:alpha val="7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Гибридный подход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2469147" y="2052321"/>
            <a:ext cx="6939013" cy="2462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</a:rPr>
              <a:t>http://www.cisco.com/c/en/us/solutions/collateral/service-provider/visual-networking-index-vni/vni-hyperconnectivity-wp.html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548" y="1694000"/>
            <a:ext cx="8795074" cy="436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5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896704" y="275092"/>
            <a:ext cx="10729894" cy="70788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14000" endPos="40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Иерархическая структура кластеров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303" y="1423868"/>
            <a:ext cx="5714152" cy="433685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90" y="3639092"/>
            <a:ext cx="1868558" cy="29049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293" y="3639092"/>
            <a:ext cx="1962771" cy="29049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564" y="1423868"/>
            <a:ext cx="3260035" cy="20413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5665303" y="5953638"/>
                <a:ext cx="5714152" cy="590354"/>
              </a:xfrm>
              <a:prstGeom prst="rect">
                <a:avLst/>
              </a:prstGeom>
              <a:gradFill flip="none" rotWithShape="1">
                <a:gsLst>
                  <a:gs pos="0">
                    <a:srgbClr val="194C71">
                      <a:shade val="30000"/>
                      <a:satMod val="115000"/>
                      <a:alpha val="60000"/>
                    </a:srgbClr>
                  </a:gs>
                  <a:gs pos="50000">
                    <a:srgbClr val="194C71">
                      <a:shade val="67500"/>
                      <a:satMod val="115000"/>
                      <a:alpha val="60000"/>
                    </a:srgbClr>
                  </a:gs>
                  <a:gs pos="100000">
                    <a:srgbClr val="194C71">
                      <a:shade val="100000"/>
                      <a:satMod val="115000"/>
                      <a:alpha val="60000"/>
                    </a:srgbClr>
                  </a:gs>
                </a:gsLst>
                <a:lin ang="0" scaled="1"/>
                <a:tileRect/>
              </a:gradFill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  <a:reflection blurRad="6350" stA="14000" endPos="40000" dist="101600" dir="5400000" sy="-100000" algn="bl" rotWithShape="0"/>
              </a:effectLst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𝑛</m:t>
                    </m:r>
                    <m:rad>
                      <m:rad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𝑛</m:t>
                        </m:r>
                      </m:deg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сравнений</a:t>
                </a:r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303" y="5953638"/>
                <a:ext cx="5714152" cy="59035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  <a:reflection blurRad="6350" stA="14000" endPos="40000" dist="101600" dir="5400000" sy="-100000" algn="bl" rotWithShape="0"/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428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40080" y="130404"/>
            <a:ext cx="10696074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95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Большие гибридные сети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40080" y="1490774"/>
            <a:ext cx="11016114" cy="132343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385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Гарантированное улучшение качества аппроксимации с увеличением числа нейронов</a:t>
            </a:r>
          </a:p>
        </p:txBody>
      </p:sp>
      <p:pic>
        <p:nvPicPr>
          <p:cNvPr id="6" name="Рисунок 5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5" t="12933" r="8512" b="10993"/>
          <a:stretch/>
        </p:blipFill>
        <p:spPr bwMode="auto">
          <a:xfrm>
            <a:off x="640080" y="2974254"/>
            <a:ext cx="5268351" cy="3492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videoplayback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270746" y="2974254"/>
            <a:ext cx="4420699" cy="331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1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58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78169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70568" y="88900"/>
            <a:ext cx="10768263" cy="120032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Повышение точности</a:t>
            </a:r>
          </a:p>
        </p:txBody>
      </p:sp>
    </p:spTree>
    <p:extLst>
      <p:ext uri="{BB962C8B-B14F-4D97-AF65-F5344CB8AC3E}">
        <p14:creationId xmlns:p14="http://schemas.microsoft.com/office/powerpoint/2010/main" val="3821852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9" b="18126"/>
          <a:stretch/>
        </p:blipFill>
        <p:spPr>
          <a:xfrm>
            <a:off x="0" y="0"/>
            <a:ext cx="12192000" cy="68326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47963" y="658330"/>
            <a:ext cx="10696074" cy="1015663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95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Почему это не переобучение?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47963" y="1985139"/>
            <a:ext cx="10696074" cy="4154984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18000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Объем обучающей выборки на порядок превышает число свободных связей в сети</a:t>
            </a:r>
          </a:p>
          <a:p>
            <a:pPr algn="ctr"/>
            <a:endParaRPr lang="ru-RU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</a:t>
            </a: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50M </a:t>
            </a: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примеров</a:t>
            </a:r>
          </a:p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</a:t>
            </a: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0.5М свободных связей </a:t>
            </a:r>
          </a:p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 3K </a:t>
            </a: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примеров на один нейрон</a:t>
            </a:r>
          </a:p>
        </p:txBody>
      </p:sp>
    </p:spTree>
    <p:extLst>
      <p:ext uri="{BB962C8B-B14F-4D97-AF65-F5344CB8AC3E}">
        <p14:creationId xmlns:p14="http://schemas.microsoft.com/office/powerpoint/2010/main" val="2284981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 39"/>
          <p:cNvSpPr/>
          <p:nvPr/>
        </p:nvSpPr>
        <p:spPr>
          <a:xfrm>
            <a:off x="371475" y="229214"/>
            <a:ext cx="11401425" cy="1200329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8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8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Преимущества</a:t>
            </a:r>
            <a:endParaRPr lang="ru-RU" sz="9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95287" y="2189431"/>
            <a:ext cx="11401425" cy="2769989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8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8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Можно задавать большую скорость обучения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Одновременно обучается маленькая «подсеть»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Подсеть находится быстро</a:t>
            </a:r>
          </a:p>
          <a:p>
            <a:endParaRPr lang="ru-RU" sz="5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4044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6713" y="222913"/>
            <a:ext cx="11390244" cy="1200329"/>
          </a:xfrm>
          <a:prstGeom prst="rect">
            <a:avLst/>
          </a:prstGeom>
          <a:solidFill>
            <a:srgbClr val="1F356D">
              <a:alpha val="81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 что если это не функция?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461" y="1749286"/>
            <a:ext cx="6844748" cy="476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139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33925" y="415953"/>
            <a:ext cx="10768263" cy="120032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Результат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33924" y="2186554"/>
            <a:ext cx="10768263" cy="3200876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810000">
            <a:spAutoFit/>
          </a:bodyPr>
          <a:lstStyle/>
          <a:p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Зависимость есть</a:t>
            </a:r>
          </a:p>
          <a:p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 пока не позволяет покрывать двойную комиссию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6345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76471" y="327722"/>
            <a:ext cx="10774016" cy="1200329"/>
          </a:xfrm>
          <a:prstGeom prst="rect">
            <a:avLst/>
          </a:prstGeom>
          <a:gradFill flip="none" rotWithShape="1">
            <a:gsLst>
              <a:gs pos="0">
                <a:srgbClr val="103387">
                  <a:shade val="30000"/>
                  <a:satMod val="115000"/>
                  <a:alpha val="60000"/>
                </a:srgbClr>
              </a:gs>
              <a:gs pos="50000">
                <a:srgbClr val="103387">
                  <a:shade val="67500"/>
                  <a:satMod val="115000"/>
                  <a:alpha val="60000"/>
                </a:srgbClr>
              </a:gs>
              <a:gs pos="100000">
                <a:srgbClr val="103387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Дальнейшие улучшения</a:t>
            </a:r>
            <a:endParaRPr lang="en-US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76471" y="1762220"/>
            <a:ext cx="10774016" cy="2308324"/>
          </a:xfrm>
          <a:prstGeom prst="rect">
            <a:avLst/>
          </a:prstGeom>
          <a:gradFill flip="none" rotWithShape="1">
            <a:gsLst>
              <a:gs pos="0">
                <a:srgbClr val="103387">
                  <a:shade val="30000"/>
                  <a:satMod val="115000"/>
                  <a:alpha val="60000"/>
                </a:srgbClr>
              </a:gs>
              <a:gs pos="50000">
                <a:srgbClr val="103387">
                  <a:shade val="67500"/>
                  <a:satMod val="115000"/>
                  <a:alpha val="60000"/>
                </a:srgbClr>
              </a:gs>
              <a:gs pos="100000">
                <a:srgbClr val="103387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81000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Адаптивное наращивание числа нейронов</a:t>
            </a:r>
          </a:p>
          <a:p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Использование дополнительных данных</a:t>
            </a:r>
          </a:p>
          <a:p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Использование 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RBF </a:t>
            </a: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вместо</a:t>
            </a:r>
            <a:b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Кохонена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869" y="3282461"/>
            <a:ext cx="4051438" cy="331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01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C1F044-C799-433B-A163-2E7225424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398671" y="4240074"/>
            <a:ext cx="8135729" cy="1754326"/>
          </a:xfrm>
          <a:prstGeom prst="rect">
            <a:avLst/>
          </a:prstGeom>
          <a:gradFill flip="none" rotWithShape="1">
            <a:gsLst>
              <a:gs pos="0">
                <a:srgbClr val="103387">
                  <a:shade val="30000"/>
                  <a:satMod val="115000"/>
                  <a:alpha val="60000"/>
                </a:srgbClr>
              </a:gs>
              <a:gs pos="50000">
                <a:srgbClr val="103387">
                  <a:shade val="67500"/>
                  <a:satMod val="115000"/>
                  <a:alpha val="60000"/>
                </a:srgbClr>
              </a:gs>
              <a:gs pos="100000">
                <a:srgbClr val="103387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81000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Перекуем мечи: атомная бомба, СОИ, прогнозирование временных рядов?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64010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BD2E31-124E-4AC5-A2A5-50AD30C9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80" y="1625884"/>
            <a:ext cx="10915650" cy="490537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59A341-C807-4C74-96B0-98F4FF82DB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155" y="236822"/>
            <a:ext cx="1604678" cy="160467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53080" y="326740"/>
            <a:ext cx="9318020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Сверточные</a:t>
            </a:r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сети</a:t>
            </a:r>
          </a:p>
        </p:txBody>
      </p:sp>
    </p:spTree>
    <p:extLst>
      <p:ext uri="{BB962C8B-B14F-4D97-AF65-F5344CB8AC3E}">
        <p14:creationId xmlns:p14="http://schemas.microsoft.com/office/powerpoint/2010/main" val="770951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436990" y="410716"/>
            <a:ext cx="9318020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Сверточные</a:t>
            </a:r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сети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8D1F53-9A29-48BE-BB42-E35FC4035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034" y="1390869"/>
            <a:ext cx="8769931" cy="365699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3D1292-AB2F-46B8-BB91-ECA026A97F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963"/>
          <a:stretch/>
        </p:blipFill>
        <p:spPr>
          <a:xfrm>
            <a:off x="1711034" y="4319208"/>
            <a:ext cx="284532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26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180367-687F-44FE-88D2-CDF2C4ECE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7000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436990" y="410716"/>
            <a:ext cx="9318020" cy="2123658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Интегрирование, шахматы и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Alfa-Go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49103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3255A0-E90C-4458-B730-0BF381D68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66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84FF2D-64D6-4669-A38F-7702A6FFD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0" y="460738"/>
            <a:ext cx="10445414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Генеративные модели</a:t>
            </a:r>
          </a:p>
        </p:txBody>
      </p:sp>
    </p:spTree>
    <p:extLst>
      <p:ext uri="{BB962C8B-B14F-4D97-AF65-F5344CB8AC3E}">
        <p14:creationId xmlns:p14="http://schemas.microsoft.com/office/powerpoint/2010/main" val="1134712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680132-9988-48EB-9A9C-9B6F10E48F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316246" y="168638"/>
            <a:ext cx="7330907" cy="3139321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Мало знать алгоритмы, нужны </a:t>
            </a:r>
            <a:r>
              <a:rPr lang="ru-RU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датасеты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7598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6AEFBC-E76B-4BF7-8EB1-0413F3EAD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17600" y="422638"/>
            <a:ext cx="9537700" cy="2123658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ChatGPT</a:t>
            </a:r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тест Тьюринга и китайская комната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A19ECF-1E81-4604-9164-FEA97AE385F7}"/>
              </a:ext>
            </a:extLst>
          </p:cNvPr>
          <p:cNvSpPr/>
          <p:nvPr/>
        </p:nvSpPr>
        <p:spPr>
          <a:xfrm>
            <a:off x="1028700" y="5037319"/>
            <a:ext cx="9537700" cy="1384995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Попытка полететь. Понять – значит привыкнуть. А важно ли понимание? Есть ли интеллект у человека? Игра в 20 вопросов.</a:t>
            </a:r>
          </a:p>
        </p:txBody>
      </p:sp>
    </p:spTree>
    <p:extLst>
      <p:ext uri="{BB962C8B-B14F-4D97-AF65-F5344CB8AC3E}">
        <p14:creationId xmlns:p14="http://schemas.microsoft.com/office/powerpoint/2010/main" val="3424426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756585-7DA1-4602-BDF8-9336A40F1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933700" y="244838"/>
            <a:ext cx="6934200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Ответственность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A19ECF-1E81-4604-9164-FEA97AE385F7}"/>
              </a:ext>
            </a:extLst>
          </p:cNvPr>
          <p:cNvSpPr/>
          <p:nvPr/>
        </p:nvSpPr>
        <p:spPr>
          <a:xfrm>
            <a:off x="1327150" y="5304019"/>
            <a:ext cx="9537700" cy="954107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Диагноз, убийство, мошенничество, вынесение приговора, автопилот, авария на дороге, (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5g), </a:t>
            </a:r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военные 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2658213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902369" y="905238"/>
            <a:ext cx="10445414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 за внимание!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92125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1927</TotalTime>
  <Words>407</Words>
  <Application>Microsoft Office PowerPoint</Application>
  <PresentationFormat>Широкоэкранный</PresentationFormat>
  <Paragraphs>58</Paragraphs>
  <Slides>30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Гибридные нейронные сети</dc:title>
  <dc:creator>Dima</dc:creator>
  <cp:lastModifiedBy>Дмитрий Нагорных</cp:lastModifiedBy>
  <cp:revision>106</cp:revision>
  <dcterms:created xsi:type="dcterms:W3CDTF">2016-06-07T06:38:29Z</dcterms:created>
  <dcterms:modified xsi:type="dcterms:W3CDTF">2024-04-23T05:06:28Z</dcterms:modified>
</cp:coreProperties>
</file>