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2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5" r:id="rId4"/>
    <p:sldId id="272" r:id="rId5"/>
    <p:sldId id="259" r:id="rId6"/>
    <p:sldId id="261" r:id="rId7"/>
    <p:sldId id="258" r:id="rId8"/>
    <p:sldId id="260" r:id="rId9"/>
    <p:sldId id="274" r:id="rId10"/>
    <p:sldId id="273" r:id="rId11"/>
    <p:sldId id="267" r:id="rId12"/>
    <p:sldId id="262" r:id="rId13"/>
    <p:sldId id="271" r:id="rId14"/>
    <p:sldId id="275" r:id="rId15"/>
    <p:sldId id="269" r:id="rId16"/>
    <p:sldId id="268" r:id="rId17"/>
    <p:sldId id="276" r:id="rId18"/>
    <p:sldId id="277" r:id="rId19"/>
    <p:sldId id="278" r:id="rId20"/>
    <p:sldId id="279" r:id="rId21"/>
    <p:sldId id="281" r:id="rId22"/>
    <p:sldId id="282" r:id="rId23"/>
    <p:sldId id="283" r:id="rId24"/>
    <p:sldId id="284" r:id="rId25"/>
    <p:sldId id="285" r:id="rId26"/>
    <p:sldId id="286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87"/>
    <a:srgbClr val="0585BC"/>
    <a:srgbClr val="0C3144"/>
    <a:srgbClr val="25387A"/>
    <a:srgbClr val="251A1C"/>
    <a:srgbClr val="1F356D"/>
    <a:srgbClr val="123752"/>
    <a:srgbClr val="194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4926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1 эксабайт = 1 миллион ТБ</c:v>
                </c:pt>
              </c:strCache>
            </c:strRef>
          </c:tx>
          <c:spPr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Лист1!$A$2:$A$7</c:f>
              <c:numCache>
                <c:formatCode>General</c:formatCode>
                <c:ptCount val="6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Лист1!$B$2:$B$7</c:f>
              <c:numCache>
                <c:formatCode>General</c:formatCode>
                <c:ptCount val="6"/>
                <c:pt idx="0">
                  <c:v>72.5</c:v>
                </c:pt>
                <c:pt idx="1">
                  <c:v>88.7</c:v>
                </c:pt>
                <c:pt idx="2">
                  <c:v>108.5</c:v>
                </c:pt>
                <c:pt idx="3">
                  <c:v>132.1</c:v>
                </c:pt>
                <c:pt idx="4">
                  <c:v>160.6</c:v>
                </c:pt>
                <c:pt idx="5">
                  <c:v>194.4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C4-4F11-9090-29FE93F6846A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Столбец1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numRef>
              <c:f>Лист1!$A$2:$A$7</c:f>
              <c:numCache>
                <c:formatCode>General</c:formatCode>
                <c:ptCount val="6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Лист1!$C$2:$C$7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1-60C4-4F11-9090-29FE93F6846A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Столбец2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numRef>
              <c:f>Лист1!$A$2:$A$7</c:f>
              <c:numCache>
                <c:formatCode>General</c:formatCode>
                <c:ptCount val="6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Лист1!$D$2:$D$7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2-60C4-4F11-9090-29FE93F684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8"/>
        <c:overlap val="100"/>
        <c:axId val="122660384"/>
        <c:axId val="122660776"/>
      </c:barChart>
      <c:catAx>
        <c:axId val="122660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660776"/>
        <c:crosses val="autoZero"/>
        <c:auto val="1"/>
        <c:lblAlgn val="ctr"/>
        <c:lblOffset val="100"/>
        <c:noMultiLvlLbl val="0"/>
      </c:catAx>
      <c:valAx>
        <c:axId val="122660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660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1"/>
        <c:delete val="1"/>
      </c:legendEntry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rgbClr val="194C71">
            <a:shade val="30000"/>
            <a:satMod val="115000"/>
            <a:alpha val="80000"/>
          </a:srgbClr>
        </a:gs>
        <a:gs pos="50000">
          <a:srgbClr val="194C71">
            <a:shade val="67500"/>
            <a:satMod val="115000"/>
            <a:alpha val="80000"/>
          </a:srgbClr>
        </a:gs>
        <a:gs pos="100000">
          <a:srgbClr val="194C71">
            <a:shade val="100000"/>
            <a:satMod val="115000"/>
            <a:alpha val="80000"/>
          </a:srgbClr>
        </a:gs>
      </a:gsLst>
      <a:lin ang="0" scaled="1"/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1 зеттабайт = 1 000 000 000 000 Гб (1 трлн.)</c:v>
                </c:pt>
              </c:strCache>
            </c:strRef>
          </c:tx>
          <c:spPr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Лист1!$A$2:$A$6</c:f>
              <c:numCache>
                <c:formatCode>General</c:formatCode>
                <c:ptCount val="5"/>
                <c:pt idx="0">
                  <c:v>2007</c:v>
                </c:pt>
                <c:pt idx="1">
                  <c:v>2011</c:v>
                </c:pt>
                <c:pt idx="2">
                  <c:v>2015</c:v>
                </c:pt>
                <c:pt idx="3">
                  <c:v>2017</c:v>
                </c:pt>
                <c:pt idx="4">
                  <c:v>2020</c:v>
                </c:pt>
              </c:numCache>
            </c:numRef>
          </c:cat>
          <c:val>
            <c:numRef>
              <c:f>Лист1!$B$2:$B$6</c:f>
              <c:numCache>
                <c:formatCode>General</c:formatCode>
                <c:ptCount val="5"/>
                <c:pt idx="0">
                  <c:v>0.2</c:v>
                </c:pt>
                <c:pt idx="1">
                  <c:v>1.8</c:v>
                </c:pt>
                <c:pt idx="2">
                  <c:v>6.5</c:v>
                </c:pt>
                <c:pt idx="3">
                  <c:v>18</c:v>
                </c:pt>
                <c:pt idx="4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28-488F-9582-C804BE0E9C56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Столбец1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numRef>
              <c:f>Лист1!$A$2:$A$6</c:f>
              <c:numCache>
                <c:formatCode>General</c:formatCode>
                <c:ptCount val="5"/>
                <c:pt idx="0">
                  <c:v>2007</c:v>
                </c:pt>
                <c:pt idx="1">
                  <c:v>2011</c:v>
                </c:pt>
                <c:pt idx="2">
                  <c:v>2015</c:v>
                </c:pt>
                <c:pt idx="3">
                  <c:v>2017</c:v>
                </c:pt>
                <c:pt idx="4">
                  <c:v>2020</c:v>
                </c:pt>
              </c:numCache>
            </c:numRef>
          </c:cat>
          <c:val>
            <c:numRef>
              <c:f>Лист1!$C$2:$C$6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1-4128-488F-9582-C804BE0E9C56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Столбец2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numRef>
              <c:f>Лист1!$A$2:$A$6</c:f>
              <c:numCache>
                <c:formatCode>General</c:formatCode>
                <c:ptCount val="5"/>
                <c:pt idx="0">
                  <c:v>2007</c:v>
                </c:pt>
                <c:pt idx="1">
                  <c:v>2011</c:v>
                </c:pt>
                <c:pt idx="2">
                  <c:v>2015</c:v>
                </c:pt>
                <c:pt idx="3">
                  <c:v>2017</c:v>
                </c:pt>
                <c:pt idx="4">
                  <c:v>2020</c:v>
                </c:pt>
              </c:numCache>
            </c:numRef>
          </c:cat>
          <c:val>
            <c:numRef>
              <c:f>Лист1!$D$2:$D$6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2-4128-488F-9582-C804BE0E9C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8"/>
        <c:overlap val="100"/>
        <c:axId val="122661560"/>
        <c:axId val="122661952"/>
      </c:barChart>
      <c:catAx>
        <c:axId val="1226615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661952"/>
        <c:crosses val="autoZero"/>
        <c:auto val="1"/>
        <c:lblAlgn val="ctr"/>
        <c:lblOffset val="100"/>
        <c:noMultiLvlLbl val="0"/>
      </c:catAx>
      <c:valAx>
        <c:axId val="122661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6615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1"/>
        <c:delete val="1"/>
      </c:legendEntry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rgbClr val="194C71">
            <a:shade val="30000"/>
            <a:satMod val="115000"/>
            <a:alpha val="80000"/>
          </a:srgbClr>
        </a:gs>
        <a:gs pos="50000">
          <a:srgbClr val="194C71">
            <a:shade val="67500"/>
            <a:satMod val="115000"/>
            <a:alpha val="80000"/>
          </a:srgbClr>
        </a:gs>
        <a:gs pos="100000">
          <a:srgbClr val="194C71">
            <a:shade val="100000"/>
            <a:satMod val="115000"/>
            <a:alpha val="80000"/>
          </a:srgbClr>
        </a:gs>
      </a:gsLst>
      <a:lin ang="0" scaled="1"/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0.09048</cdr:x>
      <cdr:y>0.06265</cdr:y>
    </cdr:from>
    <cdr:to>
      <cdr:x>0.60223</cdr:x>
      <cdr:y>0.26658</cdr:y>
    </cdr:to>
    <cdr:sp macro="" textlink="">
      <cdr:nvSpPr>
        <cdr:cNvPr id="4" name="TextBox 3"/>
        <cdr:cNvSpPr txBox="1"/>
      </cdr:nvSpPr>
      <cdr:spPr>
        <a:xfrm xmlns:a="http://schemas.openxmlformats.org/drawingml/2006/main">
          <a:off x="796867" y="266964"/>
          <a:ext cx="4507043" cy="86902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ru-RU" sz="3600" dirty="0">
              <a:solidFill>
                <a:schemeClr val="bg1"/>
              </a:solidFill>
            </a:rPr>
            <a:t>По данным </a:t>
          </a:r>
          <a:r>
            <a:rPr lang="en-US" sz="3600" dirty="0">
              <a:solidFill>
                <a:schemeClr val="bg1"/>
              </a:solidFill>
            </a:rPr>
            <a:t>Cisco VNI</a:t>
          </a:r>
        </a:p>
        <a:p xmlns:a="http://schemas.openxmlformats.org/drawingml/2006/main">
          <a:endParaRPr lang="ru-RU" sz="3600" dirty="0">
            <a:solidFill>
              <a:schemeClr val="bg1"/>
            </a:solidFill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0.04176</cdr:x>
      <cdr:y>0.02218</cdr:y>
    </cdr:from>
    <cdr:to>
      <cdr:x>0.73323</cdr:x>
      <cdr:y>0.44108</cdr:y>
    </cdr:to>
    <cdr:sp macro="" textlink="">
      <cdr:nvSpPr>
        <cdr:cNvPr id="2" name="TextBox 33"/>
        <cdr:cNvSpPr txBox="1"/>
      </cdr:nvSpPr>
      <cdr:spPr>
        <a:xfrm xmlns:a="http://schemas.openxmlformats.org/drawingml/2006/main">
          <a:off x="355559" y="94518"/>
          <a:ext cx="5887416" cy="1785103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rtlCol="0">
          <a:spAutoFit/>
        </a:bodyPr>
        <a:lstStyle xmlns:a="http://schemas.openxmlformats.org/drawingml/2006/main">
          <a:defPPr>
            <a:defRPr lang="ru-RU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ru-RU" sz="4000" dirty="0">
              <a:solidFill>
                <a:schemeClr val="bg1"/>
              </a:solidFill>
            </a:rPr>
            <a:t>Оцифрованная </a:t>
          </a:r>
          <a:br>
            <a:rPr lang="ru-RU" sz="4000" dirty="0">
              <a:solidFill>
                <a:schemeClr val="bg1"/>
              </a:solidFill>
            </a:rPr>
          </a:br>
          <a:r>
            <a:rPr lang="ru-RU" sz="4000" dirty="0">
              <a:solidFill>
                <a:schemeClr val="bg1"/>
              </a:solidFill>
            </a:rPr>
            <a:t>информация в мире</a:t>
          </a:r>
        </a:p>
        <a:p xmlns:a="http://schemas.openxmlformats.org/drawingml/2006/main">
          <a:r>
            <a:rPr lang="ru-RU" sz="1200" dirty="0">
              <a:solidFill>
                <a:schemeClr val="bg2">
                  <a:lumMod val="50000"/>
                </a:schemeClr>
              </a:solidFill>
            </a:rPr>
            <a:t>По данным </a:t>
          </a:r>
          <a:r>
            <a:rPr lang="en-US" sz="1200" dirty="0">
              <a:solidFill>
                <a:schemeClr val="bg2">
                  <a:lumMod val="50000"/>
                </a:schemeClr>
              </a:solidFill>
            </a:rPr>
            <a:t>International Data Corporation</a:t>
          </a:r>
          <a:r>
            <a:rPr lang="ru-RU" sz="1200" dirty="0">
              <a:solidFill>
                <a:schemeClr val="bg2">
                  <a:lumMod val="50000"/>
                </a:schemeClr>
              </a:solidFill>
            </a:rPr>
            <a:t>, журнала computerworld.com и computerra.ru</a:t>
          </a:r>
        </a:p>
        <a:p xmlns:a="http://schemas.openxmlformats.org/drawingml/2006/main">
          <a:endParaRPr lang="ru-RU" dirty="0"/>
        </a:p>
      </cdr:txBody>
    </cdr:sp>
  </cdr:relSizeAnchor>
  <cdr:relSizeAnchor xmlns:cdr="http://schemas.openxmlformats.org/drawingml/2006/chartDrawing">
    <cdr:from>
      <cdr:x>0.06866</cdr:x>
      <cdr:y>0.03635</cdr:y>
    </cdr:from>
    <cdr:to>
      <cdr:x>0.09137</cdr:x>
      <cdr:y>0.12302</cdr:y>
    </cdr:to>
    <cdr:sp macro="" textlink="">
      <cdr:nvSpPr>
        <cdr:cNvPr id="3" name="Прямоугольник 2"/>
        <cdr:cNvSpPr/>
      </cdr:nvSpPr>
      <cdr:spPr>
        <a:xfrm xmlns:a="http://schemas.openxmlformats.org/drawingml/2006/main">
          <a:off x="558542" y="154892"/>
          <a:ext cx="184731" cy="36933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>
          <a:spAutoFit/>
        </a:bodyPr>
        <a:lstStyle xmlns:a="http://schemas.openxmlformats.org/drawingml/2006/main">
          <a:defPPr>
            <a:defRPr lang="ru-RU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ru-RU" dirty="0"/>
        </a:p>
      </cdr:txBody>
    </cdr:sp>
  </cdr:relSizeAnchor>
  <cdr:relSizeAnchor xmlns:cdr="http://schemas.openxmlformats.org/drawingml/2006/chartDrawing">
    <cdr:from>
      <cdr:x>0.0894</cdr:x>
      <cdr:y>0.07153</cdr:y>
    </cdr:from>
    <cdr:to>
      <cdr:x>0.20181</cdr:x>
      <cdr:y>0.2861</cdr:y>
    </cdr:to>
    <cdr:sp macro="" textlink="">
      <cdr:nvSpPr>
        <cdr:cNvPr id="4" name="TextBox 3"/>
        <cdr:cNvSpPr txBox="1"/>
      </cdr:nvSpPr>
      <cdr:spPr>
        <a:xfrm xmlns:a="http://schemas.openxmlformats.org/drawingml/2006/main">
          <a:off x="727242" y="304801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ru-RU" sz="1100" dirty="0"/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18.04.2024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2676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18.04.2024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2629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18.04.2024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226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18.04.2024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9852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18.04.2024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3763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18.04.2024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6191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18.04.2024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5024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18.04.2024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5886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18.04.2024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409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18.04.2024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9255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18.04.2024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8600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55F0BF-72B5-4E58-9BD9-CA8407A98F40}" type="datetimeFigureOut">
              <a:rPr lang="ru-RU" smtClean="0"/>
              <a:t>18.04.2024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9540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835047" y="422339"/>
            <a:ext cx="10729894" cy="5570756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60000"/>
                </a:srgbClr>
              </a:gs>
              <a:gs pos="50000">
                <a:srgbClr val="194C71">
                  <a:shade val="67500"/>
                  <a:satMod val="115000"/>
                  <a:alpha val="60000"/>
                </a:srgbClr>
              </a:gs>
              <a:gs pos="100000">
                <a:srgbClr val="194C71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14000" endPos="40000" dist="1016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br>
              <a:rPr lang="ru-RU" sz="2000" dirty="0"/>
            </a:br>
            <a:r>
              <a:rPr lang="ru-RU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Большие данные</a:t>
            </a:r>
          </a:p>
          <a:p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Понятие больших данных, технические аспекты их сбора и обработки. Технические аспекты компьютерных программ. Применение алгоритмов в цифровой среде</a:t>
            </a:r>
            <a:b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ru-RU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ru-RU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•	1853 — пущена в строй первая в Азии железная дорога.</a:t>
            </a:r>
          </a:p>
          <a:p>
            <a:endParaRPr lang="ru-RU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ru-RU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•	1902 — первое применение (в Великобритании) дактилоскопии для опознания преступника.</a:t>
            </a:r>
          </a:p>
          <a:p>
            <a:endParaRPr lang="ru-RU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ru-RU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•	2024 — первое занятие в рамках курса «Цифровая юриспруденция» по теме «Большие данные»</a:t>
            </a:r>
          </a:p>
          <a:p>
            <a:pPr algn="ctr"/>
            <a:r>
              <a:rPr lang="ru-RU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39428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546774" y="802208"/>
            <a:ext cx="10696074" cy="1107996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295" endPos="92000" dist="1016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Если хочешь чистой воды..</a:t>
            </a:r>
            <a:endParaRPr lang="ru-RU" sz="7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961778" y="2617990"/>
            <a:ext cx="4771675" cy="707886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385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Большие? Данные?</a:t>
            </a:r>
          </a:p>
        </p:txBody>
      </p:sp>
    </p:spTree>
    <p:extLst>
      <p:ext uri="{BB962C8B-B14F-4D97-AF65-F5344CB8AC3E}">
        <p14:creationId xmlns:p14="http://schemas.microsoft.com/office/powerpoint/2010/main" val="4040412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>
          <a:xfrm>
            <a:off x="1546860" y="1367507"/>
            <a:ext cx="9780872" cy="1089529"/>
          </a:xfrm>
          <a:prstGeom prst="rect">
            <a:avLst/>
          </a:prstGeom>
          <a:gradFill>
            <a:gsLst>
              <a:gs pos="0">
                <a:srgbClr val="194C71">
                  <a:shade val="30000"/>
                  <a:satMod val="115000"/>
                  <a:alpha val="50000"/>
                </a:srgbClr>
              </a:gs>
              <a:gs pos="50000">
                <a:srgbClr val="194C71">
                  <a:shade val="67500"/>
                  <a:satMod val="115000"/>
                  <a:alpha val="80000"/>
                </a:srgbClr>
              </a:gs>
              <a:gs pos="100000">
                <a:srgbClr val="194C71">
                  <a:shade val="100000"/>
                  <a:satMod val="115000"/>
                  <a:alpha val="70000"/>
                </a:srgbClr>
              </a:gs>
            </a:gsLst>
            <a:lin ang="0" scaled="1"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275" endPos="40000" dist="1016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Временные ряды</a:t>
            </a:r>
          </a:p>
        </p:txBody>
      </p:sp>
    </p:spTree>
    <p:extLst>
      <p:ext uri="{BB962C8B-B14F-4D97-AF65-F5344CB8AC3E}">
        <p14:creationId xmlns:p14="http://schemas.microsoft.com/office/powerpoint/2010/main" val="816730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>
          <a:xfrm>
            <a:off x="4450702" y="361616"/>
            <a:ext cx="5234474" cy="757130"/>
          </a:xfrm>
          <a:prstGeom prst="rect">
            <a:avLst/>
          </a:prstGeom>
          <a:gradFill>
            <a:gsLst>
              <a:gs pos="0">
                <a:srgbClr val="194C71">
                  <a:shade val="30000"/>
                  <a:satMod val="115000"/>
                  <a:alpha val="50000"/>
                </a:srgbClr>
              </a:gs>
              <a:gs pos="50000">
                <a:srgbClr val="194C71">
                  <a:shade val="67500"/>
                  <a:satMod val="115000"/>
                  <a:alpha val="80000"/>
                </a:srgbClr>
              </a:gs>
              <a:gs pos="100000">
                <a:srgbClr val="194C71">
                  <a:shade val="100000"/>
                  <a:satMod val="115000"/>
                  <a:alpha val="70000"/>
                </a:srgbClr>
              </a:gs>
            </a:gsLst>
            <a:lin ang="0" scaled="1"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275" endPos="40000" dist="1016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ВЦИОМ</a:t>
            </a:r>
          </a:p>
        </p:txBody>
      </p:sp>
    </p:spTree>
    <p:extLst>
      <p:ext uri="{BB962C8B-B14F-4D97-AF65-F5344CB8AC3E}">
        <p14:creationId xmlns:p14="http://schemas.microsoft.com/office/powerpoint/2010/main" val="1246518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1732548" y="327722"/>
            <a:ext cx="8807116" cy="1200329"/>
          </a:xfrm>
          <a:prstGeom prst="rect">
            <a:avLst/>
          </a:prstGeom>
          <a:gradFill flip="none" rotWithShape="1">
            <a:gsLst>
              <a:gs pos="0">
                <a:srgbClr val="103387">
                  <a:shade val="30000"/>
                  <a:satMod val="115000"/>
                  <a:alpha val="60000"/>
                </a:srgbClr>
              </a:gs>
              <a:gs pos="50000">
                <a:srgbClr val="103387">
                  <a:shade val="67500"/>
                  <a:satMod val="115000"/>
                  <a:alpha val="60000"/>
                </a:srgbClr>
              </a:gs>
              <a:gs pos="100000">
                <a:srgbClr val="103387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900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Кривая </a:t>
            </a:r>
            <a:r>
              <a:rPr lang="ru-RU" sz="7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Гартнера</a:t>
            </a:r>
            <a:endParaRPr lang="en-US" sz="7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430037" y="1604411"/>
            <a:ext cx="4795106" cy="3477875"/>
          </a:xfrm>
          <a:prstGeom prst="rect">
            <a:avLst/>
          </a:prstGeom>
          <a:gradFill flip="none" rotWithShape="1">
            <a:gsLst>
              <a:gs pos="0">
                <a:srgbClr val="103387">
                  <a:shade val="30000"/>
                  <a:satMod val="115000"/>
                  <a:alpha val="60000"/>
                </a:srgbClr>
              </a:gs>
              <a:gs pos="50000">
                <a:srgbClr val="103387">
                  <a:shade val="67500"/>
                  <a:satMod val="115000"/>
                  <a:alpha val="60000"/>
                </a:srgbClr>
              </a:gs>
              <a:gs pos="100000">
                <a:srgbClr val="103387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Peak of Gartner’s Hype Cycle</a:t>
            </a:r>
          </a:p>
          <a:p>
            <a:pPr algn="ctr"/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ru-RU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Gartner</a:t>
            </a:r>
            <a:r>
              <a:rPr lang="ru-RU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— исследовательская и консалтинговая компания, </a:t>
            </a:r>
            <a:b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специализирующаяся на рынках информационных технологий</a:t>
            </a:r>
            <a:endParaRPr 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IoT</a:t>
            </a: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Smart Data Discovery – </a:t>
            </a:r>
            <a:r>
              <a:rPr lang="ru-RU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нарождающиеся тренды, которые усилят с одной стороны – поток данных, а с другой – спрос на алгоритмы по их обработке</a:t>
            </a:r>
          </a:p>
          <a:p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B6CC3EA-CABC-4E66-9D36-02488E6B63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1485" y="1604411"/>
            <a:ext cx="6500393" cy="4283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101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8000" r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732548" y="327722"/>
            <a:ext cx="8807116" cy="1200329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70000"/>
                </a:srgbClr>
              </a:gs>
              <a:gs pos="50000">
                <a:srgbClr val="194C71">
                  <a:shade val="67500"/>
                  <a:satMod val="115000"/>
                  <a:alpha val="70000"/>
                </a:srgbClr>
              </a:gs>
              <a:gs pos="100000">
                <a:srgbClr val="194C71">
                  <a:shade val="100000"/>
                  <a:satMod val="115000"/>
                  <a:alpha val="7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900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Поток информации</a:t>
            </a:r>
          </a:p>
        </p:txBody>
      </p:sp>
      <p:graphicFrame>
        <p:nvGraphicFramePr>
          <p:cNvPr id="10" name="Диаграмма 9"/>
          <p:cNvGraphicFramePr/>
          <p:nvPr>
            <p:extLst>
              <p:ext uri="{D42A27DB-BD31-4B8C-83A1-F6EECF244321}">
                <p14:modId xmlns:p14="http://schemas.microsoft.com/office/powerpoint/2010/main" val="691768100"/>
              </p:ext>
            </p:extLst>
          </p:nvPr>
        </p:nvGraphicFramePr>
        <p:xfrm>
          <a:off x="1732548" y="2016283"/>
          <a:ext cx="8807116" cy="42614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Прямоугольник 13"/>
          <p:cNvSpPr/>
          <p:nvPr/>
        </p:nvSpPr>
        <p:spPr>
          <a:xfrm>
            <a:off x="2469147" y="2052321"/>
            <a:ext cx="6939013" cy="24622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ru-RU" sz="1000" dirty="0">
                <a:solidFill>
                  <a:schemeClr val="bg2">
                    <a:lumMod val="50000"/>
                  </a:schemeClr>
                </a:solidFill>
              </a:rPr>
              <a:t>http://www.cisco.com/c/en/us/solutions/collateral/service-provider/visual-networking-index-vni/vni-hyperconnectivity-wp.html</a:t>
            </a:r>
          </a:p>
        </p:txBody>
      </p:sp>
    </p:spTree>
    <p:extLst>
      <p:ext uri="{BB962C8B-B14F-4D97-AF65-F5344CB8AC3E}">
        <p14:creationId xmlns:p14="http://schemas.microsoft.com/office/powerpoint/2010/main" val="157005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Прямоугольник 39"/>
          <p:cNvSpPr/>
          <p:nvPr/>
        </p:nvSpPr>
        <p:spPr>
          <a:xfrm>
            <a:off x="371475" y="229214"/>
            <a:ext cx="11401425" cy="1692771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80000"/>
                </a:srgbClr>
              </a:gs>
              <a:gs pos="50000">
                <a:srgbClr val="194C71">
                  <a:shade val="67500"/>
                  <a:satMod val="115000"/>
                  <a:alpha val="80000"/>
                </a:srgbClr>
              </a:gs>
              <a:gs pos="100000">
                <a:srgbClr val="194C71">
                  <a:shade val="100000"/>
                  <a:satMod val="115000"/>
                  <a:alpha val="8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900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Данные – это новая нефть</a:t>
            </a:r>
            <a:b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или даже лучше!</a:t>
            </a:r>
            <a:endParaRPr lang="ru-RU" sz="9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3" name="Диаграмма 32"/>
          <p:cNvGraphicFramePr/>
          <p:nvPr>
            <p:extLst>
              <p:ext uri="{D42A27DB-BD31-4B8C-83A1-F6EECF244321}">
                <p14:modId xmlns:p14="http://schemas.microsoft.com/office/powerpoint/2010/main" val="1490655158"/>
              </p:ext>
            </p:extLst>
          </p:nvPr>
        </p:nvGraphicFramePr>
        <p:xfrm>
          <a:off x="1868905" y="2258162"/>
          <a:ext cx="8514348" cy="42614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14044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8000" b="-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733925" y="415953"/>
            <a:ext cx="10768263" cy="1200329"/>
          </a:xfrm>
          <a:prstGeom prst="rect">
            <a:avLst/>
          </a:prstGeom>
          <a:solidFill>
            <a:srgbClr val="1F356D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900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 так понятно)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B712373-52B9-4DD0-91F4-2EF9B7492F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925" y="1888057"/>
            <a:ext cx="4849586" cy="4849586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0F257F5-CB8E-4B3F-BE42-E2E99B321152}"/>
              </a:ext>
            </a:extLst>
          </p:cNvPr>
          <p:cNvSpPr/>
          <p:nvPr/>
        </p:nvSpPr>
        <p:spPr>
          <a:xfrm>
            <a:off x="5943599" y="1888057"/>
            <a:ext cx="5878285" cy="1323439"/>
          </a:xfrm>
          <a:prstGeom prst="rect">
            <a:avLst/>
          </a:prstGeom>
          <a:solidFill>
            <a:srgbClr val="1F356D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900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1981 г. 1 ГБ HDD </a:t>
            </a:r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$</a:t>
            </a:r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500</a:t>
            </a:r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1C, mobile</a:t>
            </a:r>
            <a:endParaRPr lang="ru-RU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1FFE173-53C2-4868-84A9-2AA6834DB5D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599" y="3483271"/>
            <a:ext cx="4849587" cy="3233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345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A65E8F2-6FB6-43A5-A569-BA4DA0A19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733925" y="415953"/>
            <a:ext cx="10768263" cy="1200329"/>
          </a:xfrm>
          <a:prstGeom prst="rect">
            <a:avLst/>
          </a:prstGeom>
          <a:solidFill>
            <a:srgbClr val="1F356D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900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Силиконовая)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47F937-5035-4218-83DB-16D95F3B45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925" y="1854654"/>
            <a:ext cx="6486525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348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0B2E8D7-7F5E-441D-99E6-63BD0A570D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40" name="Прямоугольник 39"/>
          <p:cNvSpPr/>
          <p:nvPr/>
        </p:nvSpPr>
        <p:spPr>
          <a:xfrm>
            <a:off x="457200" y="5159828"/>
            <a:ext cx="11206066" cy="1323439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80000"/>
                </a:srgbClr>
              </a:gs>
              <a:gs pos="50000">
                <a:srgbClr val="194C71">
                  <a:shade val="67500"/>
                  <a:satMod val="115000"/>
                  <a:alpha val="80000"/>
                </a:srgbClr>
              </a:gs>
              <a:gs pos="100000">
                <a:srgbClr val="194C71">
                  <a:shade val="100000"/>
                  <a:satMod val="115000"/>
                  <a:alpha val="8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900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Duet 2001, </a:t>
            </a:r>
            <a:r>
              <a:rPr lang="ru-RU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пробки </a:t>
            </a:r>
            <a:r>
              <a:rPr lang="ru-RU" sz="8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Мск</a:t>
            </a:r>
            <a:endParaRPr lang="ru-RU" sz="8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76771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113779" y="558855"/>
            <a:ext cx="10446850" cy="1200329"/>
          </a:xfrm>
          <a:prstGeom prst="rect">
            <a:avLst/>
          </a:prstGeom>
          <a:gradFill>
            <a:gsLst>
              <a:gs pos="0">
                <a:srgbClr val="194C71">
                  <a:shade val="30000"/>
                  <a:satMod val="115000"/>
                  <a:alpha val="50000"/>
                </a:srgbClr>
              </a:gs>
              <a:gs pos="50000">
                <a:srgbClr val="194C71">
                  <a:shade val="67500"/>
                  <a:satMod val="115000"/>
                  <a:alpha val="80000"/>
                </a:srgbClr>
              </a:gs>
              <a:gs pos="100000">
                <a:srgbClr val="194C71">
                  <a:shade val="100000"/>
                  <a:satMod val="115000"/>
                  <a:alpha val="70000"/>
                </a:srgbClr>
              </a:gs>
            </a:gsLst>
            <a:lin ang="0" scaled="1"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21000" endPos="900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Перевод данных в цифру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DB86F40-0EF1-40CA-BFB7-2FE770F2A0CE}"/>
              </a:ext>
            </a:extLst>
          </p:cNvPr>
          <p:cNvSpPr/>
          <p:nvPr/>
        </p:nvSpPr>
        <p:spPr>
          <a:xfrm>
            <a:off x="1113779" y="2016195"/>
            <a:ext cx="4845372" cy="1200329"/>
          </a:xfrm>
          <a:prstGeom prst="rect">
            <a:avLst/>
          </a:prstGeom>
          <a:gradFill>
            <a:gsLst>
              <a:gs pos="0">
                <a:srgbClr val="194C71">
                  <a:shade val="30000"/>
                  <a:satMod val="115000"/>
                  <a:alpha val="50000"/>
                </a:srgbClr>
              </a:gs>
              <a:gs pos="50000">
                <a:srgbClr val="194C71">
                  <a:shade val="67500"/>
                  <a:satMod val="115000"/>
                  <a:alpha val="80000"/>
                </a:srgbClr>
              </a:gs>
              <a:gs pos="100000">
                <a:srgbClr val="194C71">
                  <a:shade val="100000"/>
                  <a:satMod val="115000"/>
                  <a:alpha val="70000"/>
                </a:srgbClr>
              </a:gs>
            </a:gsLst>
            <a:lin ang="0" scaled="1"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21000" endPos="900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Откуда?</a:t>
            </a:r>
          </a:p>
        </p:txBody>
      </p:sp>
    </p:spTree>
    <p:extLst>
      <p:ext uri="{BB962C8B-B14F-4D97-AF65-F5344CB8AC3E}">
        <p14:creationId xmlns:p14="http://schemas.microsoft.com/office/powerpoint/2010/main" val="2896485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-635000" ty="-63500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8F76660-99C3-4C9E-911A-1E464C767A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11" y="311214"/>
            <a:ext cx="10138302" cy="6388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870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89" b="18126"/>
          <a:stretch/>
        </p:blipFill>
        <p:spPr>
          <a:xfrm>
            <a:off x="0" y="0"/>
            <a:ext cx="12192000" cy="68326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945187" y="1221006"/>
            <a:ext cx="8449115" cy="1200329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295" endPos="92000" dist="1016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Анализ данных</a:t>
            </a:r>
          </a:p>
        </p:txBody>
      </p:sp>
    </p:spTree>
    <p:extLst>
      <p:ext uri="{BB962C8B-B14F-4D97-AF65-F5344CB8AC3E}">
        <p14:creationId xmlns:p14="http://schemas.microsoft.com/office/powerpoint/2010/main" val="2284981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lide2">
            <a:extLst>
              <a:ext uri="{FF2B5EF4-FFF2-40B4-BE49-F238E27FC236}">
                <a16:creationId xmlns:a16="http://schemas.microsoft.com/office/drawing/2014/main" id="{D0EDA873-B4A2-4FA2-B6DC-626DB99A7B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59"/>
          <a:stretch/>
        </p:blipFill>
        <p:spPr bwMode="auto">
          <a:xfrm>
            <a:off x="8171225" y="1206500"/>
            <a:ext cx="4020775" cy="565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CA7E001-2E77-41C7-94CD-FEDB0F131816}"/>
              </a:ext>
            </a:extLst>
          </p:cNvPr>
          <p:cNvSpPr/>
          <p:nvPr/>
        </p:nvSpPr>
        <p:spPr>
          <a:xfrm>
            <a:off x="774700" y="268506"/>
            <a:ext cx="10642599" cy="1200329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Традиционные подходы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FEA4705-2C17-4DE6-978C-AD1FF062CA5A}"/>
              </a:ext>
            </a:extLst>
          </p:cNvPr>
          <p:cNvSpPr/>
          <p:nvPr/>
        </p:nvSpPr>
        <p:spPr>
          <a:xfrm>
            <a:off x="774699" y="2135406"/>
            <a:ext cx="6477001" cy="584775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Хоронилище</a:t>
            </a:r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синхронизация</a:t>
            </a:r>
          </a:p>
        </p:txBody>
      </p:sp>
    </p:spTree>
    <p:extLst>
      <p:ext uri="{BB962C8B-B14F-4D97-AF65-F5344CB8AC3E}">
        <p14:creationId xmlns:p14="http://schemas.microsoft.com/office/powerpoint/2010/main" val="3205233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910425" y="896013"/>
            <a:ext cx="10768263" cy="1754326"/>
          </a:xfrm>
          <a:prstGeom prst="rect">
            <a:avLst/>
          </a:prstGeom>
          <a:solidFill>
            <a:srgbClr val="1F356D">
              <a:alpha val="81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550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кластеризация, распределенные вычисления, параллелизм, </a:t>
            </a:r>
            <a:r>
              <a:rPr lang="ru-RU" sz="5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grid</a:t>
            </a:r>
            <a:endParaRPr lang="ru-RU" sz="5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73139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2769269" y="981438"/>
            <a:ext cx="7378031" cy="1107996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60000"/>
                </a:srgbClr>
              </a:gs>
              <a:gs pos="50000">
                <a:srgbClr val="194C71">
                  <a:shade val="67500"/>
                  <a:satMod val="115000"/>
                  <a:alpha val="60000"/>
                </a:srgbClr>
              </a:gs>
              <a:gs pos="100000">
                <a:srgbClr val="194C71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GPGPU</a:t>
            </a:r>
            <a:endParaRPr lang="ru-RU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79212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7DA3E9D-0618-493C-8498-2D334981F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2769268" y="651238"/>
            <a:ext cx="7378031" cy="1107996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60000"/>
                </a:srgbClr>
              </a:gs>
              <a:gs pos="50000">
                <a:srgbClr val="194C71">
                  <a:shade val="67500"/>
                  <a:satMod val="115000"/>
                  <a:alpha val="60000"/>
                </a:srgbClr>
              </a:gs>
              <a:gs pos="100000">
                <a:srgbClr val="194C71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Технологии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FEAF1F8-34E3-48D2-BE4D-606E92DD0E6A}"/>
              </a:ext>
            </a:extLst>
          </p:cNvPr>
          <p:cNvSpPr/>
          <p:nvPr/>
        </p:nvSpPr>
        <p:spPr>
          <a:xfrm>
            <a:off x="546100" y="2070461"/>
            <a:ext cx="10833100" cy="3447098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60000"/>
                </a:srgbClr>
              </a:gs>
              <a:gs pos="50000">
                <a:srgbClr val="194C71">
                  <a:shade val="67500"/>
                  <a:satMod val="115000"/>
                  <a:alpha val="60000"/>
                </a:srgbClr>
              </a:gs>
              <a:gs pos="100000">
                <a:srgbClr val="194C71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ru-RU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MapReduce</a:t>
            </a:r>
            <a:r>
              <a:rPr lang="ru-RU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кластеризация (главная </a:t>
            </a:r>
            <a:r>
              <a:rPr lang="ru-RU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нода</a:t>
            </a:r>
            <a:r>
              <a:rPr lang="ru-RU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раздает задачи и данные другим </a:t>
            </a:r>
            <a:r>
              <a:rPr lang="ru-RU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нодам</a:t>
            </a:r>
            <a:r>
              <a:rPr lang="ru-RU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потом </a:t>
            </a:r>
            <a:r>
              <a:rPr lang="ru-RU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собриает</a:t>
            </a:r>
            <a:r>
              <a:rPr lang="ru-RU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с них результат). Можно посчитать.</a:t>
            </a:r>
            <a:endParaRPr lang="ru-RU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ru-RU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Apache Spark </a:t>
            </a:r>
            <a:r>
              <a:rPr lang="ru-RU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обработка в оперативке</a:t>
            </a:r>
          </a:p>
          <a:p>
            <a:r>
              <a:rPr lang="ru-RU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Hadoop</a:t>
            </a:r>
            <a:r>
              <a:rPr lang="ru-RU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фреймворк (</a:t>
            </a:r>
            <a:r>
              <a:rPr lang="ru-RU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</a:t>
            </a:r>
            <a:r>
              <a:rPr lang="ru-RU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). 1 выпуск 2006 год. (Начали его писать 2 парней)</a:t>
            </a:r>
            <a:endParaRPr lang="ru-RU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500100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1B7DAF1-7F8B-4A58-BF5F-293DED1AC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697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36ECCC4-ED52-4F07-A972-14DA0E47AF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733925" y="415953"/>
            <a:ext cx="10768263" cy="1200329"/>
          </a:xfrm>
          <a:prstGeom prst="rect">
            <a:avLst/>
          </a:prstGeom>
          <a:solidFill>
            <a:srgbClr val="1F356D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900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Типовые задачи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0F257F5-CB8E-4B3F-BE42-E2E99B321152}"/>
              </a:ext>
            </a:extLst>
          </p:cNvPr>
          <p:cNvSpPr/>
          <p:nvPr/>
        </p:nvSpPr>
        <p:spPr>
          <a:xfrm>
            <a:off x="520701" y="1888057"/>
            <a:ext cx="5041900" cy="3785652"/>
          </a:xfrm>
          <a:prstGeom prst="rect">
            <a:avLst/>
          </a:prstGeom>
          <a:solidFill>
            <a:srgbClr val="1F356D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Кластеризация</a:t>
            </a:r>
            <a:endParaRPr 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Распознавание</a:t>
            </a:r>
          </a:p>
          <a:p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Поиск</a:t>
            </a:r>
          </a:p>
          <a:p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Фильтрация</a:t>
            </a:r>
          </a:p>
          <a:p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Прогнозирование</a:t>
            </a:r>
          </a:p>
          <a:p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Анализ и …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A02C471-AAAE-4360-8BE3-D099B484A3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800" y="1792391"/>
            <a:ext cx="4889500" cy="488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1143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13C1DCB-92A6-499A-90A1-5DE71AEFE8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76A2182-7D16-4DBB-9BB4-58C8682B16B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052"/>
          <a:stretch/>
        </p:blipFill>
        <p:spPr>
          <a:xfrm>
            <a:off x="0" y="0"/>
            <a:ext cx="6207566" cy="4229100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33CE037-C599-4DBD-802F-1F868A0C6EE9}"/>
              </a:ext>
            </a:extLst>
          </p:cNvPr>
          <p:cNvSpPr/>
          <p:nvPr/>
        </p:nvSpPr>
        <p:spPr>
          <a:xfrm>
            <a:off x="279401" y="4694757"/>
            <a:ext cx="7772399" cy="1323439"/>
          </a:xfrm>
          <a:prstGeom prst="rect">
            <a:avLst/>
          </a:prstGeom>
          <a:solidFill>
            <a:srgbClr val="1F356D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Голос, </a:t>
            </a:r>
            <a:r>
              <a:rPr lang="ru-RU" sz="4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дипфейк</a:t>
            </a:r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музыка, текст </a:t>
            </a:r>
          </a:p>
          <a:p>
            <a:endParaRPr lang="ru-RU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998201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D1C380B-7832-458A-A2C0-066E33796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00038"/>
            <a:ext cx="5524500" cy="745807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6F8E0C2-32F8-4080-80CD-4991CC9C01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499" y="-300038"/>
            <a:ext cx="6667501" cy="750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4052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73CFDD-1412-4A86-B3E2-FE9BCFAE74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050"/>
            <a:ext cx="6896100" cy="687705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39B8327-0CBF-4AB2-B16F-CF0C8F3E2772}"/>
              </a:ext>
            </a:extLst>
          </p:cNvPr>
          <p:cNvSpPr/>
          <p:nvPr/>
        </p:nvSpPr>
        <p:spPr>
          <a:xfrm>
            <a:off x="628650" y="177800"/>
            <a:ext cx="10655299" cy="1754326"/>
          </a:xfrm>
          <a:prstGeom prst="rect">
            <a:avLst/>
          </a:prstGeom>
          <a:solidFill>
            <a:srgbClr val="1F356D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Применение алгоритмов в цифровой среде</a:t>
            </a:r>
            <a:endParaRPr lang="ru-RU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15066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DC040DF-2596-4054-A12D-823F82E40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0"/>
            <a:ext cx="11963400" cy="68580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6AC14FB-5DA6-4286-B9C7-FEFB03FD3FD5}"/>
              </a:ext>
            </a:extLst>
          </p:cNvPr>
          <p:cNvSpPr/>
          <p:nvPr/>
        </p:nvSpPr>
        <p:spPr>
          <a:xfrm>
            <a:off x="2153233" y="383073"/>
            <a:ext cx="8114134" cy="923330"/>
          </a:xfrm>
          <a:prstGeom prst="rect">
            <a:avLst/>
          </a:prstGeom>
          <a:solidFill>
            <a:srgbClr val="1F356D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Сноуден АНБ</a:t>
            </a:r>
            <a:endParaRPr lang="ru-RU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618740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5D1B661-2DFF-4D94-B622-A9F7AB64A2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CD9659B-F93F-424A-B933-986F7CF30ED0}"/>
              </a:ext>
            </a:extLst>
          </p:cNvPr>
          <p:cNvSpPr/>
          <p:nvPr/>
        </p:nvSpPr>
        <p:spPr>
          <a:xfrm>
            <a:off x="768350" y="165100"/>
            <a:ext cx="10655299" cy="1754326"/>
          </a:xfrm>
          <a:prstGeom prst="rect">
            <a:avLst/>
          </a:prstGeom>
          <a:solidFill>
            <a:srgbClr val="1F356D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Незнание ИТ не освобождает от ответственности (цифровой след)</a:t>
            </a:r>
            <a:endParaRPr lang="ru-RU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588854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DF46B7E-B43A-4706-A818-73C91E8943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41300"/>
            <a:ext cx="12192000" cy="8131969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CD9659B-F93F-424A-B933-986F7CF30ED0}"/>
              </a:ext>
            </a:extLst>
          </p:cNvPr>
          <p:cNvSpPr/>
          <p:nvPr/>
        </p:nvSpPr>
        <p:spPr>
          <a:xfrm>
            <a:off x="2933701" y="165100"/>
            <a:ext cx="6413500" cy="923330"/>
          </a:xfrm>
          <a:prstGeom prst="rect">
            <a:avLst/>
          </a:prstGeom>
          <a:solidFill>
            <a:srgbClr val="1F356D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Анализ метаданных</a:t>
            </a:r>
            <a:endParaRPr lang="ru-RU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430713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C51E2F2-EDE9-4DB1-9362-E191AAF270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22300"/>
            <a:ext cx="12192000" cy="8507016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5F6A0E5-D081-4571-BC51-05042769DCF9}"/>
              </a:ext>
            </a:extLst>
          </p:cNvPr>
          <p:cNvSpPr/>
          <p:nvPr/>
        </p:nvSpPr>
        <p:spPr>
          <a:xfrm>
            <a:off x="384888" y="260682"/>
            <a:ext cx="11422224" cy="2062103"/>
          </a:xfrm>
          <a:prstGeom prst="rect">
            <a:avLst/>
          </a:prstGeom>
          <a:solidFill>
            <a:srgbClr val="1F356D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УКЭП, Госуслуги, перс. данные, защита и утечки данных, </a:t>
            </a:r>
            <a:r>
              <a:rPr lang="ru-RU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росреестр</a:t>
            </a:r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Астра, ФСТЭК, кибер-мошенничество, взлом систем ЭВМ и социальная инженерия, обогащение, скоринг, БКИ,  ФССП, СМЭВ, ОФД,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базовые станции, сингулярность</a:t>
            </a:r>
            <a:endParaRPr lang="ru-RU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E20E8F8-D3CC-4855-BCF9-CCCA51865D95}"/>
              </a:ext>
            </a:extLst>
          </p:cNvPr>
          <p:cNvSpPr/>
          <p:nvPr/>
        </p:nvSpPr>
        <p:spPr>
          <a:xfrm>
            <a:off x="5374433" y="6012543"/>
            <a:ext cx="6607628" cy="584775"/>
          </a:xfrm>
          <a:prstGeom prst="rect">
            <a:avLst/>
          </a:prstGeom>
          <a:solidFill>
            <a:srgbClr val="1F356D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is real and it effects our lives</a:t>
            </a:r>
            <a:endParaRPr lang="ru-RU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4179702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1568</TotalTime>
  <Words>373</Words>
  <Application>Microsoft Office PowerPoint</Application>
  <PresentationFormat>Широкоэкранный</PresentationFormat>
  <Paragraphs>54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Гибридные нейронные сети</dc:title>
  <dc:creator>Dima</dc:creator>
  <cp:lastModifiedBy>Дмитрий Нагорных</cp:lastModifiedBy>
  <cp:revision>97</cp:revision>
  <dcterms:created xsi:type="dcterms:W3CDTF">2016-06-07T06:38:29Z</dcterms:created>
  <dcterms:modified xsi:type="dcterms:W3CDTF">2024-04-18T04:24:45Z</dcterms:modified>
</cp:coreProperties>
</file>