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72" r:id="rId5"/>
    <p:sldId id="259" r:id="rId6"/>
    <p:sldId id="261" r:id="rId7"/>
    <p:sldId id="258" r:id="rId8"/>
    <p:sldId id="260" r:id="rId9"/>
    <p:sldId id="274" r:id="rId10"/>
    <p:sldId id="273" r:id="rId11"/>
    <p:sldId id="267" r:id="rId12"/>
    <p:sldId id="262" r:id="rId13"/>
    <p:sldId id="271" r:id="rId14"/>
    <p:sldId id="275" r:id="rId15"/>
    <p:sldId id="269" r:id="rId16"/>
    <p:sldId id="268" r:id="rId17"/>
    <p:sldId id="276" r:id="rId18"/>
    <p:sldId id="287" r:id="rId19"/>
    <p:sldId id="277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6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87"/>
    <a:srgbClr val="0585BC"/>
    <a:srgbClr val="0C3144"/>
    <a:srgbClr val="25387A"/>
    <a:srgbClr val="251A1C"/>
    <a:srgbClr val="1F356D"/>
    <a:srgbClr val="123752"/>
    <a:srgbClr val="194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03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 эксабайт = 1 миллион ТБ</c:v>
                </c:pt>
              </c:strCache>
            </c:strRef>
          </c:tx>
          <c:spPr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72.5</c:v>
                </c:pt>
                <c:pt idx="1">
                  <c:v>88.7</c:v>
                </c:pt>
                <c:pt idx="2">
                  <c:v>108.5</c:v>
                </c:pt>
                <c:pt idx="3">
                  <c:v>132.1</c:v>
                </c:pt>
                <c:pt idx="4">
                  <c:v>160.6</c:v>
                </c:pt>
                <c:pt idx="5">
                  <c:v>194.4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4-4F11-9090-29FE93F6846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60C4-4F11-9090-29FE93F6846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Лист1!$D$2:$D$7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60C4-4F11-9090-29FE93F68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100"/>
        <c:axId val="122660384"/>
        <c:axId val="122660776"/>
      </c:barChart>
      <c:catAx>
        <c:axId val="12266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0776"/>
        <c:crosses val="autoZero"/>
        <c:auto val="1"/>
        <c:lblAlgn val="ctr"/>
        <c:lblOffset val="100"/>
        <c:noMultiLvlLbl val="0"/>
      </c:catAx>
      <c:valAx>
        <c:axId val="12266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0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rgbClr val="194C71">
            <a:shade val="30000"/>
            <a:satMod val="115000"/>
            <a:alpha val="80000"/>
          </a:srgbClr>
        </a:gs>
        <a:gs pos="50000">
          <a:srgbClr val="194C71">
            <a:shade val="67500"/>
            <a:satMod val="115000"/>
            <a:alpha val="80000"/>
          </a:srgbClr>
        </a:gs>
        <a:gs pos="100000">
          <a:srgbClr val="194C71">
            <a:shade val="100000"/>
            <a:satMod val="115000"/>
            <a:alpha val="80000"/>
          </a:srgbClr>
        </a:gs>
      </a:gsLst>
      <a:lin ang="0" scaled="1"/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 зеттабайт = 1 000 000 000 000 Гб (1 трлн.)</c:v>
                </c:pt>
              </c:strCache>
            </c:strRef>
          </c:tx>
          <c:spPr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0.2</c:v>
                </c:pt>
                <c:pt idx="1">
                  <c:v>1.8</c:v>
                </c:pt>
                <c:pt idx="2">
                  <c:v>6.5</c:v>
                </c:pt>
                <c:pt idx="3">
                  <c:v>18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28-488F-9582-C804BE0E9C5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4128-488F-9582-C804BE0E9C5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numRef>
              <c:f>Лист1!$A$2:$A$6</c:f>
              <c:numCache>
                <c:formatCode>General</c:formatCode>
                <c:ptCount val="5"/>
                <c:pt idx="0">
                  <c:v>2007</c:v>
                </c:pt>
                <c:pt idx="1">
                  <c:v>2011</c:v>
                </c:pt>
                <c:pt idx="2">
                  <c:v>2015</c:v>
                </c:pt>
                <c:pt idx="3">
                  <c:v>2017</c:v>
                </c:pt>
                <c:pt idx="4">
                  <c:v>2020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128-488F-9582-C804BE0E9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100"/>
        <c:axId val="122661560"/>
        <c:axId val="122661952"/>
      </c:barChart>
      <c:catAx>
        <c:axId val="122661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1952"/>
        <c:crosses val="autoZero"/>
        <c:auto val="1"/>
        <c:lblAlgn val="ctr"/>
        <c:lblOffset val="100"/>
        <c:noMultiLvlLbl val="0"/>
      </c:catAx>
      <c:valAx>
        <c:axId val="122661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61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rgbClr val="194C71">
            <a:shade val="30000"/>
            <a:satMod val="115000"/>
            <a:alpha val="80000"/>
          </a:srgbClr>
        </a:gs>
        <a:gs pos="50000">
          <a:srgbClr val="194C71">
            <a:shade val="67500"/>
            <a:satMod val="115000"/>
            <a:alpha val="80000"/>
          </a:srgbClr>
        </a:gs>
        <a:gs pos="100000">
          <a:srgbClr val="194C71">
            <a:shade val="100000"/>
            <a:satMod val="115000"/>
            <a:alpha val="80000"/>
          </a:srgbClr>
        </a:gs>
      </a:gsLst>
      <a:lin ang="0" scaled="1"/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0.09048</cdr:x>
      <cdr:y>0.06265</cdr:y>
    </cdr:from>
    <cdr:to>
      <cdr:x>0.60223</cdr:x>
      <cdr:y>0.26658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796867" y="266964"/>
          <a:ext cx="4507043" cy="86902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ru-RU" sz="3600" dirty="0">
              <a:solidFill>
                <a:schemeClr val="bg1"/>
              </a:solidFill>
            </a:rPr>
            <a:t>По данным </a:t>
          </a:r>
          <a:r>
            <a:rPr lang="en-US" sz="3600" dirty="0">
              <a:solidFill>
                <a:schemeClr val="bg1"/>
              </a:solidFill>
            </a:rPr>
            <a:t>Cisco VNI</a:t>
          </a:r>
        </a:p>
        <a:p xmlns:a="http://schemas.openxmlformats.org/drawingml/2006/main">
          <a:endParaRPr lang="ru-RU" sz="3600" dirty="0">
            <a:solidFill>
              <a:schemeClr val="bg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0.04176</cdr:x>
      <cdr:y>0.02218</cdr:y>
    </cdr:from>
    <cdr:to>
      <cdr:x>0.73323</cdr:x>
      <cdr:y>0.44108</cdr:y>
    </cdr:to>
    <cdr:sp macro="" textlink="">
      <cdr:nvSpPr>
        <cdr:cNvPr id="2" name="TextBox 33"/>
        <cdr:cNvSpPr txBox="1"/>
      </cdr:nvSpPr>
      <cdr:spPr>
        <a:xfrm xmlns:a="http://schemas.openxmlformats.org/drawingml/2006/main">
          <a:off x="355559" y="94518"/>
          <a:ext cx="5887416" cy="178510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ru-RU" sz="4000" dirty="0">
              <a:solidFill>
                <a:schemeClr val="bg1"/>
              </a:solidFill>
            </a:rPr>
            <a:t>Оцифрованная </a:t>
          </a:r>
          <a:br>
            <a:rPr lang="ru-RU" sz="4000" dirty="0">
              <a:solidFill>
                <a:schemeClr val="bg1"/>
              </a:solidFill>
            </a:rPr>
          </a:br>
          <a:r>
            <a:rPr lang="ru-RU" sz="4000" dirty="0">
              <a:solidFill>
                <a:schemeClr val="bg1"/>
              </a:solidFill>
            </a:rPr>
            <a:t>информация в мире</a:t>
          </a:r>
        </a:p>
        <a:p xmlns:a="http://schemas.openxmlformats.org/drawingml/2006/main">
          <a:r>
            <a:rPr lang="ru-RU" sz="1200" dirty="0">
              <a:solidFill>
                <a:schemeClr val="bg2">
                  <a:lumMod val="50000"/>
                </a:schemeClr>
              </a:solidFill>
            </a:rPr>
            <a:t>По данным </a:t>
          </a:r>
          <a:r>
            <a:rPr lang="en-US" sz="1200" dirty="0">
              <a:solidFill>
                <a:schemeClr val="bg2">
                  <a:lumMod val="50000"/>
                </a:schemeClr>
              </a:solidFill>
            </a:rPr>
            <a:t>International Data Corporation</a:t>
          </a:r>
          <a:r>
            <a:rPr lang="ru-RU" sz="1200" dirty="0">
              <a:solidFill>
                <a:schemeClr val="bg2">
                  <a:lumMod val="50000"/>
                </a:schemeClr>
              </a:solidFill>
            </a:rPr>
            <a:t>, журнала computerworld.com и computerra.ru</a:t>
          </a:r>
        </a:p>
        <a:p xmlns:a="http://schemas.openxmlformats.org/drawingml/2006/main">
          <a:endParaRPr lang="ru-RU" dirty="0"/>
        </a:p>
      </cdr:txBody>
    </cdr:sp>
  </cdr:relSizeAnchor>
  <cdr:relSizeAnchor xmlns:cdr="http://schemas.openxmlformats.org/drawingml/2006/chartDrawing">
    <cdr:from>
      <cdr:x>0.06866</cdr:x>
      <cdr:y>0.03635</cdr:y>
    </cdr:from>
    <cdr:to>
      <cdr:x>0.09137</cdr:x>
      <cdr:y>0.12302</cdr:y>
    </cdr:to>
    <cdr:sp macro="" textlink="">
      <cdr:nvSpPr>
        <cdr:cNvPr id="3" name="Прямоугольник 2"/>
        <cdr:cNvSpPr/>
      </cdr:nvSpPr>
      <cdr:spPr>
        <a:xfrm xmlns:a="http://schemas.openxmlformats.org/drawingml/2006/main">
          <a:off x="558542" y="154892"/>
          <a:ext cx="184731" cy="369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 dirty="0"/>
        </a:p>
      </cdr:txBody>
    </cdr:sp>
  </cdr:relSizeAnchor>
  <cdr:relSizeAnchor xmlns:cdr="http://schemas.openxmlformats.org/drawingml/2006/chartDrawing">
    <cdr:from>
      <cdr:x>0.0894</cdr:x>
      <cdr:y>0.07153</cdr:y>
    </cdr:from>
    <cdr:to>
      <cdr:x>0.20181</cdr:x>
      <cdr:y>0.2861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727242" y="304801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ru-RU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67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2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2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5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76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9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8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9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0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5F0BF-72B5-4E58-9BD9-CA8407A98F40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835047" y="422339"/>
            <a:ext cx="10729894" cy="267765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br>
              <a:rPr lang="ru-RU" sz="2000" dirty="0"/>
            </a:b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 данные</a:t>
            </a:r>
          </a:p>
          <a:p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больших данных, технические аспекты их сбора и обработки. Технические аспекты компьютерных программ. Применение алгоритмов в цифровой среде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	</a:t>
            </a:r>
            <a:endParaRPr 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942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46774" y="802208"/>
            <a:ext cx="10696074" cy="110799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хочешь чистой воды..</a:t>
            </a:r>
            <a:endParaRPr lang="ru-RU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61778" y="2617990"/>
            <a:ext cx="4771675" cy="70788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Большие? Данные?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1BE73D-D5DF-8564-0EBA-AF1749C54D6D}"/>
              </a:ext>
            </a:extLst>
          </p:cNvPr>
          <p:cNvSpPr/>
          <p:nvPr/>
        </p:nvSpPr>
        <p:spPr>
          <a:xfrm>
            <a:off x="2205368" y="5845060"/>
            <a:ext cx="9464662" cy="70788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что мы с ними делаем (пневмопочта)</a:t>
            </a:r>
          </a:p>
        </p:txBody>
      </p:sp>
    </p:spTree>
    <p:extLst>
      <p:ext uri="{BB962C8B-B14F-4D97-AF65-F5344CB8AC3E}">
        <p14:creationId xmlns:p14="http://schemas.microsoft.com/office/powerpoint/2010/main" val="404041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546860" y="1367507"/>
            <a:ext cx="9780872" cy="10895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75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Временные ряды</a:t>
            </a:r>
          </a:p>
        </p:txBody>
      </p:sp>
    </p:spTree>
    <p:extLst>
      <p:ext uri="{BB962C8B-B14F-4D97-AF65-F5344CB8AC3E}">
        <p14:creationId xmlns:p14="http://schemas.microsoft.com/office/powerpoint/2010/main" val="81673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450702" y="361616"/>
            <a:ext cx="5234474" cy="757130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75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ВЦИОМ и </a:t>
            </a:r>
            <a:r>
              <a:rPr lang="ru-RU" sz="4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Теорвер</a:t>
            </a:r>
            <a:endParaRPr lang="ru-RU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651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Кривая </a:t>
            </a:r>
            <a:r>
              <a:rPr lang="ru-RU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Гартнера</a:t>
            </a:r>
            <a:endParaRPr 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30037" y="1604411"/>
            <a:ext cx="4795106" cy="3477875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 of Gartner’s Hype Cycle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Gartner</a:t>
            </a: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исследовательская и консалтинговая компания, </a:t>
            </a:r>
            <a:b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специализирующаяся на рынках информационных технологий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Smart Data Discovery – </a:t>
            </a: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нарождающиеся тренды, которые усилят с одной стороны – поток данных, а с другой – спрос на алгоритмы по их обработке</a:t>
            </a:r>
          </a:p>
          <a:p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6CC3EA-CABC-4E66-9D36-02488E6B6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485" y="1604411"/>
            <a:ext cx="6500393" cy="42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0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70000"/>
                </a:srgbClr>
              </a:gs>
              <a:gs pos="50000">
                <a:srgbClr val="194C71">
                  <a:shade val="67500"/>
                  <a:satMod val="115000"/>
                  <a:alpha val="7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Поток информации</a:t>
            </a: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691768100"/>
              </p:ext>
            </p:extLst>
          </p:nvPr>
        </p:nvGraphicFramePr>
        <p:xfrm>
          <a:off x="1732548" y="2016283"/>
          <a:ext cx="8807116" cy="426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2469147" y="2052321"/>
            <a:ext cx="6939013" cy="246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</a:rPr>
              <a:t>http://www.cisco.com/c/en/us/solutions/collateral/service-provider/visual-networking-index-vni/vni-hyperconnectivity-wp.html</a:t>
            </a:r>
          </a:p>
        </p:txBody>
      </p:sp>
    </p:spTree>
    <p:extLst>
      <p:ext uri="{BB962C8B-B14F-4D97-AF65-F5344CB8AC3E}">
        <p14:creationId xmlns:p14="http://schemas.microsoft.com/office/powerpoint/2010/main" val="15700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/>
          <p:cNvSpPr/>
          <p:nvPr/>
        </p:nvSpPr>
        <p:spPr>
          <a:xfrm>
            <a:off x="371475" y="229214"/>
            <a:ext cx="11401425" cy="1692771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Данные – это новая нефть</a:t>
            </a:r>
            <a:b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или даже лучше!</a:t>
            </a:r>
            <a:endParaRPr lang="ru-RU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" name="Диаграмма 32"/>
          <p:cNvGraphicFramePr/>
          <p:nvPr>
            <p:extLst>
              <p:ext uri="{D42A27DB-BD31-4B8C-83A1-F6EECF244321}">
                <p14:modId xmlns:p14="http://schemas.microsoft.com/office/powerpoint/2010/main" val="1490655158"/>
              </p:ext>
            </p:extLst>
          </p:nvPr>
        </p:nvGraphicFramePr>
        <p:xfrm>
          <a:off x="1868905" y="2258162"/>
          <a:ext cx="8514348" cy="4261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404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так понятно)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712373-52B9-4DD0-91F4-2EF9B7492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25" y="1888057"/>
            <a:ext cx="4849586" cy="484958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F257F5-CB8E-4B3F-BE42-E2E99B321152}"/>
              </a:ext>
            </a:extLst>
          </p:cNvPr>
          <p:cNvSpPr/>
          <p:nvPr/>
        </p:nvSpPr>
        <p:spPr>
          <a:xfrm>
            <a:off x="5943599" y="1888057"/>
            <a:ext cx="5878285" cy="132343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1981 г. 1 ГБ HDD 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$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500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1C, mobile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FFE173-53C2-4868-84A9-2AA6834DB5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3483271"/>
            <a:ext cx="4849587" cy="323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45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65E8F2-6FB6-43A5-A569-BA4DA0A19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Силиконовая)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47F937-5035-4218-83DB-16D95F3B4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25" y="1854654"/>
            <a:ext cx="64865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4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B2E8D7-7F5E-441D-99E6-63BD0A570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0" name="Прямоугольник 39"/>
          <p:cNvSpPr/>
          <p:nvPr/>
        </p:nvSpPr>
        <p:spPr>
          <a:xfrm>
            <a:off x="492966" y="5457008"/>
            <a:ext cx="11206066" cy="769441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Duet 2001, 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пробки </a:t>
            </a:r>
            <a:r>
              <a:rPr lang="ru-RU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Мск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глюкометр, браслет</a:t>
            </a:r>
          </a:p>
        </p:txBody>
      </p:sp>
    </p:spTree>
    <p:extLst>
      <p:ext uri="{BB962C8B-B14F-4D97-AF65-F5344CB8AC3E}">
        <p14:creationId xmlns:p14="http://schemas.microsoft.com/office/powerpoint/2010/main" val="137677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3779" y="558855"/>
            <a:ext cx="10446850" cy="12003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10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Перевод данных в цифру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B86F40-0EF1-40CA-BFB7-2FE770F2A0CE}"/>
              </a:ext>
            </a:extLst>
          </p:cNvPr>
          <p:cNvSpPr/>
          <p:nvPr/>
        </p:nvSpPr>
        <p:spPr>
          <a:xfrm>
            <a:off x="1113779" y="2016195"/>
            <a:ext cx="4845372" cy="1200329"/>
          </a:xfrm>
          <a:prstGeom prst="rect">
            <a:avLst/>
          </a:prstGeom>
          <a:gradFill>
            <a:gsLst>
              <a:gs pos="0">
                <a:srgbClr val="194C71">
                  <a:shade val="30000"/>
                  <a:satMod val="115000"/>
                  <a:alpha val="5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10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Откуда?</a:t>
            </a:r>
          </a:p>
        </p:txBody>
      </p:sp>
    </p:spTree>
    <p:extLst>
      <p:ext uri="{BB962C8B-B14F-4D97-AF65-F5344CB8AC3E}">
        <p14:creationId xmlns:p14="http://schemas.microsoft.com/office/powerpoint/2010/main" val="289648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35000" ty="-6350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F76660-99C3-4C9E-911A-1E464C767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69" y="249221"/>
            <a:ext cx="9260898" cy="598179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2A8524-F6DB-BBF8-ECDF-6677F5EB6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982" y="4837129"/>
            <a:ext cx="49339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70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9" b="18126"/>
          <a:stretch/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45187" y="1221006"/>
            <a:ext cx="8449115" cy="3416320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данных</a:t>
            </a:r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сырых, грязных и … затхлых!)</a:t>
            </a:r>
            <a:endParaRPr 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498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2">
            <a:extLst>
              <a:ext uri="{FF2B5EF4-FFF2-40B4-BE49-F238E27FC236}">
                <a16:creationId xmlns:a16="http://schemas.microsoft.com/office/drawing/2014/main" id="{D0EDA873-B4A2-4FA2-B6DC-626DB99A7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9"/>
          <a:stretch/>
        </p:blipFill>
        <p:spPr bwMode="auto">
          <a:xfrm>
            <a:off x="8171225" y="1206500"/>
            <a:ext cx="4020775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CA7E001-2E77-41C7-94CD-FEDB0F131816}"/>
              </a:ext>
            </a:extLst>
          </p:cNvPr>
          <p:cNvSpPr/>
          <p:nvPr/>
        </p:nvSpPr>
        <p:spPr>
          <a:xfrm>
            <a:off x="774700" y="268506"/>
            <a:ext cx="10642599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Традиционные подходы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EA4705-2C17-4DE6-978C-AD1FF062CA5A}"/>
              </a:ext>
            </a:extLst>
          </p:cNvPr>
          <p:cNvSpPr/>
          <p:nvPr/>
        </p:nvSpPr>
        <p:spPr>
          <a:xfrm>
            <a:off x="774699" y="2135406"/>
            <a:ext cx="6477001" cy="584775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Хоронилище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синхронизация БЧ</a:t>
            </a:r>
          </a:p>
        </p:txBody>
      </p:sp>
    </p:spTree>
    <p:extLst>
      <p:ext uri="{BB962C8B-B14F-4D97-AF65-F5344CB8AC3E}">
        <p14:creationId xmlns:p14="http://schemas.microsoft.com/office/powerpoint/2010/main" val="320523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10425" y="896013"/>
            <a:ext cx="10768263" cy="1754326"/>
          </a:xfrm>
          <a:prstGeom prst="rect">
            <a:avLst/>
          </a:prstGeom>
          <a:solidFill>
            <a:srgbClr val="1F356D">
              <a:alpha val="81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кластеризация, распределенные вычисления, параллелизм, </a:t>
            </a:r>
            <a:r>
              <a:rPr lang="ru-RU"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</a:t>
            </a:r>
            <a:endParaRPr lang="ru-RU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7C372A-D71B-438B-B0D8-7212F22398DC}"/>
              </a:ext>
            </a:extLst>
          </p:cNvPr>
          <p:cNvSpPr/>
          <p:nvPr/>
        </p:nvSpPr>
        <p:spPr>
          <a:xfrm>
            <a:off x="711868" y="2957223"/>
            <a:ext cx="10768263" cy="3231654"/>
          </a:xfrm>
          <a:prstGeom prst="rect">
            <a:avLst/>
          </a:prstGeom>
          <a:solidFill>
            <a:srgbClr val="1F356D">
              <a:alpha val="81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Часть из этого стала историей… </a:t>
            </a:r>
            <a:b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тоимость хранения данных меньше, чем стоимость выяснения того, что именно нужно выбросить</a:t>
            </a:r>
            <a:r>
              <a:rPr lang="ru-RU" sz="5400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  <a:endParaRPr lang="ru-RU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313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769269" y="981438"/>
            <a:ext cx="7378031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GPGPU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9212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DA3E9D-0618-493C-8498-2D334981F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769268" y="651238"/>
            <a:ext cx="7378031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EAF1F8-34E3-48D2-BE4D-606E92DD0E6A}"/>
              </a:ext>
            </a:extLst>
          </p:cNvPr>
          <p:cNvSpPr/>
          <p:nvPr/>
        </p:nvSpPr>
        <p:spPr>
          <a:xfrm>
            <a:off x="546100" y="2070461"/>
            <a:ext cx="10833100" cy="344709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MapReduce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кластеризация (главная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нода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раздает задачи и данные другим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нодам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потом 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собриает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 них результат). Можно посчитать.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 Spark 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 в оперативке</a:t>
            </a:r>
          </a:p>
          <a:p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Hadoop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фреймворк (</a:t>
            </a:r>
            <a:r>
              <a:rPr lang="ru-RU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1 выпуск 2006 год. (Начали его писать 2 парней)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0010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0F73-A8CE-F65C-A9EA-AE3C3172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F47956-F9E9-F657-779D-94FEBF5F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358BB6-807B-C290-7114-226332EB2DD8}"/>
              </a:ext>
            </a:extLst>
          </p:cNvPr>
          <p:cNvSpPr/>
          <p:nvPr/>
        </p:nvSpPr>
        <p:spPr>
          <a:xfrm>
            <a:off x="2769268" y="651238"/>
            <a:ext cx="7378031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driven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6CBD53-BA69-ABA1-3D85-79CFC2F1BAC5}"/>
              </a:ext>
            </a:extLst>
          </p:cNvPr>
          <p:cNvSpPr/>
          <p:nvPr/>
        </p:nvSpPr>
        <p:spPr>
          <a:xfrm>
            <a:off x="1255363" y="2070461"/>
            <a:ext cx="10077342" cy="212365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</a:t>
            </a:r>
          </a:p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211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B7DAF1-7F8B-4A58-BF5F-293DED1AC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6ECCC4-ED52-4F07-A972-14DA0E47A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Типовые задачи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F257F5-CB8E-4B3F-BE42-E2E99B321152}"/>
              </a:ext>
            </a:extLst>
          </p:cNvPr>
          <p:cNvSpPr/>
          <p:nvPr/>
        </p:nvSpPr>
        <p:spPr>
          <a:xfrm>
            <a:off x="520701" y="1888057"/>
            <a:ext cx="5041900" cy="3785652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Кластеризация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Распознавание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Поиск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Фильтрация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Прогнозирование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и …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02C471-AAAE-4360-8BE3-D099B484A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1792391"/>
            <a:ext cx="48895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4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3C1DCB-92A6-499A-90A1-5DE71AEFE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A2182-7D16-4DBB-9BB4-58C8682B16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52"/>
          <a:stretch/>
        </p:blipFill>
        <p:spPr>
          <a:xfrm>
            <a:off x="0" y="0"/>
            <a:ext cx="6207566" cy="42291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33CE037-C599-4DBD-802F-1F868A0C6EE9}"/>
              </a:ext>
            </a:extLst>
          </p:cNvPr>
          <p:cNvSpPr/>
          <p:nvPr/>
        </p:nvSpPr>
        <p:spPr>
          <a:xfrm>
            <a:off x="279401" y="4694757"/>
            <a:ext cx="7772399" cy="132343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Голос, </a:t>
            </a: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дипфейк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музыка, текст </a:t>
            </a:r>
          </a:p>
          <a:p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820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1C380B-7832-458A-A2C0-066E33796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0038"/>
            <a:ext cx="5524500" cy="74580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8E0C2-32F8-4080-80CD-4991CC9C0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99" y="-300038"/>
            <a:ext cx="6667501" cy="75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05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73CFDD-1412-4A86-B3E2-FE9BCFAE7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"/>
            <a:ext cx="6896100" cy="68770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9B8327-0CBF-4AB2-B16F-CF0C8F3E2772}"/>
              </a:ext>
            </a:extLst>
          </p:cNvPr>
          <p:cNvSpPr/>
          <p:nvPr/>
        </p:nvSpPr>
        <p:spPr>
          <a:xfrm>
            <a:off x="628650" y="177800"/>
            <a:ext cx="10655299" cy="175432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Применение алгоритмов в цифровой среде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616663-6E4D-656B-5817-F838136D7E09}"/>
              </a:ext>
            </a:extLst>
          </p:cNvPr>
          <p:cNvSpPr/>
          <p:nvPr/>
        </p:nvSpPr>
        <p:spPr>
          <a:xfrm>
            <a:off x="7029450" y="2128976"/>
            <a:ext cx="4254499" cy="646331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Поиски партнера</a:t>
            </a:r>
            <a:endParaRPr lang="ru-RU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E136A0-5F41-0383-F252-2D7D4812F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11" y="2910475"/>
            <a:ext cx="39147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66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C040DF-2596-4054-A12D-823F82E40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119634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AC14FB-5DA6-4286-B9C7-FEFB03FD3FD5}"/>
              </a:ext>
            </a:extLst>
          </p:cNvPr>
          <p:cNvSpPr/>
          <p:nvPr/>
        </p:nvSpPr>
        <p:spPr>
          <a:xfrm>
            <a:off x="2153233" y="383073"/>
            <a:ext cx="8114134" cy="923330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Сноуден АНБ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1874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D1B661-2DFF-4D94-B622-A9F7AB64A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D9659B-F93F-424A-B933-986F7CF30ED0}"/>
              </a:ext>
            </a:extLst>
          </p:cNvPr>
          <p:cNvSpPr/>
          <p:nvPr/>
        </p:nvSpPr>
        <p:spPr>
          <a:xfrm>
            <a:off x="768350" y="165100"/>
            <a:ext cx="10655299" cy="175432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Незнание ИТ не освобождает от ответственности (цифровой след)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8885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F46B7E-B43A-4706-A818-73C91E894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1300"/>
            <a:ext cx="12192000" cy="81319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D9659B-F93F-424A-B933-986F7CF30ED0}"/>
              </a:ext>
            </a:extLst>
          </p:cNvPr>
          <p:cNvSpPr/>
          <p:nvPr/>
        </p:nvSpPr>
        <p:spPr>
          <a:xfrm>
            <a:off x="2933701" y="165100"/>
            <a:ext cx="6413500" cy="923330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метаданных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087044-36EC-B7A1-71DE-C1A2CF1F27ED}"/>
              </a:ext>
            </a:extLst>
          </p:cNvPr>
          <p:cNvSpPr/>
          <p:nvPr/>
        </p:nvSpPr>
        <p:spPr>
          <a:xfrm>
            <a:off x="1371600" y="5769570"/>
            <a:ext cx="7689851" cy="923330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чеки в супермаркетах</a:t>
            </a: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3071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51E2F2-EDE9-4DB1-9362-E191AAF27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2300"/>
            <a:ext cx="12192000" cy="850701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F6A0E5-D081-4571-BC51-05042769DCF9}"/>
              </a:ext>
            </a:extLst>
          </p:cNvPr>
          <p:cNvSpPr/>
          <p:nvPr/>
        </p:nvSpPr>
        <p:spPr>
          <a:xfrm>
            <a:off x="384888" y="260682"/>
            <a:ext cx="11422224" cy="2062103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УКЭП, Госуслуги, перс. данные, защита и утечки данных, </a:t>
            </a:r>
            <a:r>
              <a:rPr lang="ru-RU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росреестр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Астра, ФСТЭК, кибер-мошенничество, взлом систем ЭВМ и социальная инженерия, обогащение, скоринг, БКИ,  ФССП, СМЭВ, ОФД,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базовые станции, сингулярность</a:t>
            </a:r>
            <a:endParaRPr 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20E8F8-D3CC-4855-BCF9-CCCA51865D95}"/>
              </a:ext>
            </a:extLst>
          </p:cNvPr>
          <p:cNvSpPr/>
          <p:nvPr/>
        </p:nvSpPr>
        <p:spPr>
          <a:xfrm>
            <a:off x="5374433" y="6012543"/>
            <a:ext cx="6607628" cy="584775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real and it effects our lives</a:t>
            </a:r>
            <a:endParaRPr 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17970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382</Words>
  <Application>Microsoft Office PowerPoint</Application>
  <PresentationFormat>Широкоэкранный</PresentationFormat>
  <Paragraphs>56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-apple-system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Гибридные нейронные сети</dc:title>
  <dc:creator>Dima</dc:creator>
  <cp:lastModifiedBy>Dima</cp:lastModifiedBy>
  <cp:revision>106</cp:revision>
  <dcterms:created xsi:type="dcterms:W3CDTF">2016-06-07T06:38:29Z</dcterms:created>
  <dcterms:modified xsi:type="dcterms:W3CDTF">2025-02-20T02:53:30Z</dcterms:modified>
</cp:coreProperties>
</file>